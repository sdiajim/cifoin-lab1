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26"/>
  </p:notesMasterIdLst>
  <p:handoutMasterIdLst>
    <p:handoutMasterId r:id="rId27"/>
  </p:handoutMasterIdLst>
  <p:sldIdLst>
    <p:sldId id="256" r:id="rId5"/>
    <p:sldId id="295" r:id="rId6"/>
    <p:sldId id="290" r:id="rId7"/>
    <p:sldId id="299" r:id="rId8"/>
    <p:sldId id="298" r:id="rId9"/>
    <p:sldId id="300" r:id="rId10"/>
    <p:sldId id="302" r:id="rId11"/>
    <p:sldId id="303" r:id="rId12"/>
    <p:sldId id="291" r:id="rId13"/>
    <p:sldId id="304" r:id="rId14"/>
    <p:sldId id="292" r:id="rId15"/>
    <p:sldId id="297" r:id="rId16"/>
    <p:sldId id="306" r:id="rId17"/>
    <p:sldId id="293" r:id="rId18"/>
    <p:sldId id="313" r:id="rId19"/>
    <p:sldId id="307" r:id="rId20"/>
    <p:sldId id="309" r:id="rId21"/>
    <p:sldId id="310" r:id="rId22"/>
    <p:sldId id="311" r:id="rId23"/>
    <p:sldId id="312" r:id="rId24"/>
    <p:sldId id="288" r:id="rId25"/>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E73085-E5FB-4053-A255-70DCB85CEF11}" v="19" dt="2026-03-11T13:00:13.639"/>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9" d="100"/>
          <a:sy n="79" d="100"/>
        </p:scale>
        <p:origin x="821" y="72"/>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11/03/2026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11/03/2026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6CA9B-D5D7-99A3-20C1-6CF4F2225E6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9BCC5A0-B892-0B14-C8A9-706024214AD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A8D66C5-E77F-AB93-A428-2A869DFB6203}"/>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D25FF913-4E87-FC72-C85D-3E9A2988B063}"/>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22743382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5B8BF-8210-4285-6D83-FC996880D49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339E25D-2A3C-A05B-1122-E26ADF3CB07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A5A6A26-0BE3-DFA0-2E1B-C354A42A8B38}"/>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1F9D548B-74F8-E6F0-DA13-10E5832ADA4A}"/>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29912983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1A639-1676-074B-4A3D-B918E2ACD1A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33E744F-16EC-101F-A5F4-BAE339757FF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B9EB7DA-AA5E-D2B9-B2F1-5F00FBB6B304}"/>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4CC3729A-30AC-F2AA-3BAD-9CD458193706}"/>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32886752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AD3BA-B0FC-F4C9-13E8-98F96590BBB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5AF870B-FBE3-A11A-28D3-A93CFEA5078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4221799-09E2-C2E3-BD3B-C849EEF75AE8}"/>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7DFC4943-A35F-FEF5-61A1-BB009C21576F}"/>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39447211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F24D6-0E2B-B919-F49E-79821FDDDAC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8742968-4E2C-C748-55F0-6CE6FD75124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A636BF3-A758-6782-41F0-9EBC9233ABA7}"/>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76BF87DC-30F7-3308-94B0-FC390671156F}"/>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34811130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EB4DB-8C3E-E4AE-848C-F0401E5AFA6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35B406B-6278-70E8-35ED-F62B854CFBF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5EC9347-09FC-F9AF-0A4F-425261A28AD9}"/>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B5FAFED8-07D1-DB43-5EEA-E7990C204B28}"/>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1753695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9AA65-166B-474B-A6C9-9858D86A944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158223-A8BA-05F6-464C-EC03A9FB8C5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CB4DF-C329-8F47-9ECE-661B5B2BF9AC}"/>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041B2276-A4E2-DFBF-0088-6997E86C9FE1}"/>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23623159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15371-1641-46E0-68FD-EF902C3CE32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ABC5CC8-15FC-D64F-BF6B-0AC55F80806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9ECB8B6-B797-2E3D-B9B7-71C65F5052C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D3FC4FB3-4C0A-001F-A237-F02388B0A5CB}"/>
              </a:ext>
            </a:extLst>
          </p:cNvPr>
          <p:cNvSpPr>
            <a:spLocks noGrp="1"/>
          </p:cNvSpPr>
          <p:nvPr>
            <p:ph type="sldNum" sz="quarter" idx="5"/>
          </p:nvPr>
        </p:nvSpPr>
        <p:spPr/>
        <p:txBody>
          <a:bodyPr/>
          <a:lstStyle/>
          <a:p>
            <a:fld id="{676223B9-C868-4436-87D9-1A3152E1157A}" type="slidenum">
              <a:rPr lang="es-ES" smtClean="0"/>
              <a:t>13</a:t>
            </a:fld>
            <a:endParaRPr lang="es-ES"/>
          </a:p>
        </p:txBody>
      </p:sp>
    </p:spTree>
    <p:extLst>
      <p:ext uri="{BB962C8B-B14F-4D97-AF65-F5344CB8AC3E}">
        <p14:creationId xmlns:p14="http://schemas.microsoft.com/office/powerpoint/2010/main" val="1676236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29173827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03E64-AEAE-37DD-8704-67F990FC352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5082C9B-3612-27EB-53B4-C24CF7FDF30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9FFFB7F-66F0-7AB2-9E70-A82F589CD25C}"/>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D4646176-89A8-0BB7-9065-7B895FC38AD9}"/>
              </a:ext>
            </a:extLst>
          </p:cNvPr>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6802554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DB1F5-D6E3-D61A-9B2E-952DE80B3F7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A46F6B1-BBD4-C23D-4EBA-78D423BA503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6D951D0-3632-0150-49AB-DE5007814A92}"/>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031AA835-5BBA-4DCC-A612-23EAE47BB2F7}"/>
              </a:ext>
            </a:extLst>
          </p:cNvPr>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26012240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7745D-AB23-8AC6-B26C-2016955976F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7967495-999B-41F6-9F18-CED5D81A335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DD506AC-636D-BD1E-7604-171B32621808}"/>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0BD6AB25-D34E-8468-AADF-6D7EEB3F46D8}"/>
              </a:ext>
            </a:extLst>
          </p:cNvPr>
          <p:cNvSpPr>
            <a:spLocks noGrp="1"/>
          </p:cNvSpPr>
          <p:nvPr>
            <p:ph type="sldNum" sz="quarter" idx="5"/>
          </p:nvPr>
        </p:nvSpPr>
        <p:spPr/>
        <p:txBody>
          <a:bodyPr/>
          <a:lstStyle/>
          <a:p>
            <a:fld id="{676223B9-C868-4436-87D9-1A3152E1157A}" type="slidenum">
              <a:rPr lang="es-ES" smtClean="0"/>
              <a:t>17</a:t>
            </a:fld>
            <a:endParaRPr lang="es-ES"/>
          </a:p>
        </p:txBody>
      </p:sp>
    </p:spTree>
    <p:extLst>
      <p:ext uri="{BB962C8B-B14F-4D97-AF65-F5344CB8AC3E}">
        <p14:creationId xmlns:p14="http://schemas.microsoft.com/office/powerpoint/2010/main" val="27369300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007DE-D798-93E5-BC83-EBBEF3F6221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5282F63-93C2-117B-3213-AE39BE804FE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7A5F991-4277-7E29-EF92-ED74B5F09062}"/>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D6680AE0-29D9-B3D1-1722-FB1AC9EFF7D2}"/>
              </a:ext>
            </a:extLst>
          </p:cNvPr>
          <p:cNvSpPr>
            <a:spLocks noGrp="1"/>
          </p:cNvSpPr>
          <p:nvPr>
            <p:ph type="sldNum" sz="quarter" idx="5"/>
          </p:nvPr>
        </p:nvSpPr>
        <p:spPr/>
        <p:txBody>
          <a:bodyPr/>
          <a:lstStyle/>
          <a:p>
            <a:fld id="{676223B9-C868-4436-87D9-1A3152E1157A}" type="slidenum">
              <a:rPr lang="es-ES" smtClean="0"/>
              <a:t>18</a:t>
            </a:fld>
            <a:endParaRPr lang="es-ES"/>
          </a:p>
        </p:txBody>
      </p:sp>
    </p:spTree>
    <p:extLst>
      <p:ext uri="{BB962C8B-B14F-4D97-AF65-F5344CB8AC3E}">
        <p14:creationId xmlns:p14="http://schemas.microsoft.com/office/powerpoint/2010/main" val="19529774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00647-072D-3027-FD4E-FFEB9310188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650F333-F0BB-4B95-827C-F1BCDEC6690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FABA7C9-7E74-A322-042B-2A79B50FF8E8}"/>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47738286-D004-92A7-2CD7-301E0B8A1160}"/>
              </a:ext>
            </a:extLst>
          </p:cNvPr>
          <p:cNvSpPr>
            <a:spLocks noGrp="1"/>
          </p:cNvSpPr>
          <p:nvPr>
            <p:ph type="sldNum" sz="quarter" idx="5"/>
          </p:nvPr>
        </p:nvSpPr>
        <p:spPr/>
        <p:txBody>
          <a:bodyPr/>
          <a:lstStyle/>
          <a:p>
            <a:fld id="{676223B9-C868-4436-87D9-1A3152E1157A}" type="slidenum">
              <a:rPr lang="es-ES" smtClean="0"/>
              <a:t>19</a:t>
            </a:fld>
            <a:endParaRPr lang="es-ES"/>
          </a:p>
        </p:txBody>
      </p:sp>
    </p:spTree>
    <p:extLst>
      <p:ext uri="{BB962C8B-B14F-4D97-AF65-F5344CB8AC3E}">
        <p14:creationId xmlns:p14="http://schemas.microsoft.com/office/powerpoint/2010/main" val="14863336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DC53B-F6CB-2F0E-0045-314A1093684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AB6B803-A86B-3AE3-C183-A23463716A9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3596902-AA02-8327-690E-464F67EACB0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2D67F4A3-0A85-7541-2B7B-56947FCFD866}"/>
              </a:ext>
            </a:extLst>
          </p:cNvPr>
          <p:cNvSpPr>
            <a:spLocks noGrp="1"/>
          </p:cNvSpPr>
          <p:nvPr>
            <p:ph type="sldNum" sz="quarter" idx="5"/>
          </p:nvPr>
        </p:nvSpPr>
        <p:spPr/>
        <p:txBody>
          <a:bodyPr/>
          <a:lstStyle/>
          <a:p>
            <a:fld id="{676223B9-C868-4436-87D9-1A3152E1157A}" type="slidenum">
              <a:rPr lang="es-ES" smtClean="0"/>
              <a:t>20</a:t>
            </a:fld>
            <a:endParaRPr lang="es-ES"/>
          </a:p>
        </p:txBody>
      </p:sp>
    </p:spTree>
    <p:extLst>
      <p:ext uri="{BB962C8B-B14F-4D97-AF65-F5344CB8AC3E}">
        <p14:creationId xmlns:p14="http://schemas.microsoft.com/office/powerpoint/2010/main" val="17102555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1.0 WAVEGUIDES</a:t>
            </a:r>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sv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3.png"/><Relationship Id="rId7"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4.svg"/><Relationship Id="rId9"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4.sv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4.sv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28.png"/><Relationship Id="rId4" Type="http://schemas.openxmlformats.org/officeDocument/2006/relationships/image" Target="../media/image13.sv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17.png"/><Relationship Id="rId4" Type="http://schemas.openxmlformats.org/officeDocument/2006/relationships/image" Target="../media/image4.sv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4.sv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4.sv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err="1">
                <a:latin typeface="Lucida Sans"/>
                <a:cs typeface="Lucida Sans"/>
              </a:rPr>
              <a:t>Lab</a:t>
            </a:r>
            <a:r>
              <a:rPr lang="es-ES" sz="3200" b="1">
                <a:latin typeface="Lucida Sans"/>
                <a:cs typeface="Lucida Sans"/>
              </a:rPr>
              <a:t> Book 1.0. </a:t>
            </a:r>
            <a:r>
              <a:rPr lang="es-ES" sz="3200" b="1" err="1">
                <a:latin typeface="Lucida Sans"/>
                <a:cs typeface="Lucida Sans"/>
              </a:rPr>
              <a:t>Waveguides</a:t>
            </a:r>
            <a:endParaRPr sz="320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err="1">
                <a:latin typeface="Arial"/>
                <a:cs typeface="Arial"/>
              </a:rPr>
              <a:t>Students</a:t>
            </a:r>
            <a:r>
              <a:rPr lang="es-ES" spc="165">
                <a:latin typeface="Arial"/>
                <a:cs typeface="Arial"/>
              </a:rPr>
              <a:t>: Blanca Bueno Martínez y Sergio Díaz Jiménez </a:t>
            </a:r>
            <a:endParaRPr sz="180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err="1">
                <a:latin typeface="+mj-lt"/>
                <a:cs typeface="Lucida Sans"/>
              </a:rPr>
              <a:t>Instructions</a:t>
            </a:r>
            <a:br>
              <a:rPr lang="es-ES" sz="2400" spc="-5">
                <a:latin typeface="+mj-lt"/>
                <a:cs typeface="Lucida Sans"/>
              </a:rPr>
            </a:br>
            <a:r>
              <a:rPr lang="es-ES" b="0" spc="-5">
                <a:latin typeface="+mj-lt"/>
                <a:cs typeface="Lucida Sans"/>
              </a:rPr>
              <a:t>General</a:t>
            </a:r>
            <a:endParaRPr sz="2400" b="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1.0 WAVEGUIDES</a:t>
            </a:r>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a:solidFill>
                  <a:sysClr val="windowText" lastClr="000000"/>
                </a:solidFill>
                <a:sym typeface="Wingdings" pitchFamily="2" charset="2"/>
              </a:rPr>
              <a:t>Fork the repo: https://github.com/cccanvas-upv/cifoin-lab1.git</a:t>
            </a:r>
          </a:p>
          <a:p>
            <a:pPr marL="800100" lvl="1" indent="-342900" algn="just">
              <a:buFont typeface="Arial" panose="020B0604020202020204" pitchFamily="34" charset="0"/>
              <a:buChar char="•"/>
            </a:pPr>
            <a:r>
              <a:rPr lang="en-US" kern="0">
                <a:solidFill>
                  <a:sysClr val="windowText" lastClr="000000"/>
                </a:solidFill>
                <a:sym typeface="Wingdings" pitchFamily="2" charset="2"/>
              </a:rPr>
              <a:t>Clone the repo using </a:t>
            </a:r>
            <a:r>
              <a:rPr lang="en-US" kern="0" err="1">
                <a:solidFill>
                  <a:sysClr val="windowText" lastClr="000000"/>
                </a:solidFill>
                <a:sym typeface="Wingdings" pitchFamily="2" charset="2"/>
              </a:rPr>
              <a:t>VSCode</a:t>
            </a:r>
            <a:endParaRPr lang="en-US" kern="0">
              <a:solidFill>
                <a:sysClr val="windowText" lastClr="000000"/>
              </a:solidFill>
              <a:sym typeface="Wingdings" pitchFamily="2" charset="2"/>
            </a:endParaRPr>
          </a:p>
          <a:p>
            <a:pPr marL="342900" indent="-342900" algn="just">
              <a:buFont typeface="Arial" panose="020B0604020202020204" pitchFamily="34" charset="0"/>
              <a:buChar char="•"/>
            </a:pPr>
            <a:r>
              <a:rPr lang="en-US" kern="0">
                <a:solidFill>
                  <a:sysClr val="windowText" lastClr="000000"/>
                </a:solidFill>
              </a:rPr>
              <a:t>Run the </a:t>
            </a:r>
            <a:r>
              <a:rPr lang="en-US" kern="0" err="1">
                <a:solidFill>
                  <a:sysClr val="windowText" lastClr="000000"/>
                </a:solidFill>
              </a:rPr>
              <a:t>Jupyter</a:t>
            </a:r>
            <a:r>
              <a:rPr lang="en-US" kern="0">
                <a:solidFill>
                  <a:sysClr val="windowText" lastClr="000000"/>
                </a:solidFill>
              </a:rPr>
              <a:t> Notebook: </a:t>
            </a:r>
          </a:p>
          <a:p>
            <a:pPr marL="800100" lvl="1" indent="-342900" algn="just">
              <a:buFont typeface="Arial" panose="020B0604020202020204" pitchFamily="34" charset="0"/>
              <a:buChar char="•"/>
            </a:pPr>
            <a:r>
              <a:rPr lang="en-US" kern="0" err="1">
                <a:solidFill>
                  <a:sysClr val="windowText" lastClr="000000"/>
                </a:solidFill>
              </a:rPr>
              <a:t>WAVEGUIDES_Student.ipynb</a:t>
            </a:r>
            <a:r>
              <a:rPr lang="en-US" kern="0">
                <a:solidFill>
                  <a:sysClr val="windowText" lastClr="000000"/>
                </a:solidFill>
              </a:rPr>
              <a:t> </a:t>
            </a:r>
          </a:p>
          <a:p>
            <a:pPr algn="just"/>
            <a:endParaRPr lang="en-US" sz="2000" b="1" i="1" u="sng"/>
          </a:p>
          <a:p>
            <a:pPr algn="just"/>
            <a:endParaRPr lang="en-US" sz="2000" kern="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902765"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97" name="object 62">
            <a:extLst>
              <a:ext uri="{FF2B5EF4-FFF2-40B4-BE49-F238E27FC236}">
                <a16:creationId xmlns:a16="http://schemas.microsoft.com/office/drawing/2014/main" id="{13E0425E-CEDF-CBC4-B34B-0CC3951920EA}"/>
              </a:ext>
            </a:extLst>
          </p:cNvPr>
          <p:cNvSpPr/>
          <p:nvPr/>
        </p:nvSpPr>
        <p:spPr>
          <a:xfrm>
            <a:off x="1747061" y="3983757"/>
            <a:ext cx="76200" cy="986155"/>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091131" y="4210910"/>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a:latin typeface="Calibri"/>
                <a:cs typeface="Calibri"/>
              </a:rPr>
              <a:t>h</a:t>
            </a:r>
          </a:p>
          <a:p>
            <a:pPr marR="5080" algn="ctr">
              <a:lnSpc>
                <a:spcPct val="100000"/>
              </a:lnSpc>
              <a:spcBef>
                <a:spcPts val="5"/>
              </a:spcBef>
            </a:pPr>
            <a:r>
              <a:rPr sz="1400" spc="-10">
                <a:latin typeface="Calibri"/>
                <a:cs typeface="Calibri"/>
              </a:rPr>
              <a:t>(h</a:t>
            </a:r>
            <a:r>
              <a:rPr sz="1400">
                <a:latin typeface="Calibri"/>
                <a:cs typeface="Calibri"/>
              </a:rPr>
              <a:t>eig</a:t>
            </a:r>
            <a:r>
              <a:rPr sz="1400" spc="-25">
                <a:latin typeface="Calibri"/>
                <a:cs typeface="Calibri"/>
              </a:rPr>
              <a:t>h</a:t>
            </a:r>
            <a:r>
              <a:rPr sz="1400" spc="-5">
                <a:latin typeface="Calibri"/>
                <a:cs typeface="Calibri"/>
              </a:rPr>
              <a:t>t</a:t>
            </a:r>
            <a:r>
              <a:rPr sz="1400">
                <a:latin typeface="Calibri"/>
                <a:cs typeface="Calibri"/>
              </a:rPr>
              <a:t>)</a:t>
            </a:r>
          </a:p>
        </p:txBody>
      </p:sp>
      <p:sp>
        <p:nvSpPr>
          <p:cNvPr id="99" name="object 64">
            <a:extLst>
              <a:ext uri="{FF2B5EF4-FFF2-40B4-BE49-F238E27FC236}">
                <a16:creationId xmlns:a16="http://schemas.microsoft.com/office/drawing/2014/main" id="{ABAAA5DD-56CA-BF94-2180-F0866658B6B3}"/>
              </a:ext>
            </a:extLst>
          </p:cNvPr>
          <p:cNvSpPr/>
          <p:nvPr/>
        </p:nvSpPr>
        <p:spPr>
          <a:xfrm>
            <a:off x="1984805"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504743" y="3532730"/>
            <a:ext cx="733425" cy="240029"/>
          </a:xfrm>
          <a:prstGeom prst="rect">
            <a:avLst/>
          </a:prstGeom>
        </p:spPr>
        <p:txBody>
          <a:bodyPr vert="horz" wrap="square" lIns="0" tIns="13335" rIns="0" bIns="0" rtlCol="0">
            <a:spAutoFit/>
          </a:bodyPr>
          <a:lstStyle/>
          <a:p>
            <a:pPr>
              <a:lnSpc>
                <a:spcPct val="100000"/>
              </a:lnSpc>
              <a:spcBef>
                <a:spcPts val="105"/>
              </a:spcBef>
            </a:pPr>
            <a:r>
              <a:rPr sz="1400" spc="5">
                <a:latin typeface="Calibri"/>
                <a:cs typeface="Calibri"/>
              </a:rPr>
              <a:t>W</a:t>
            </a:r>
            <a:r>
              <a:rPr sz="1400" spc="-65">
                <a:latin typeface="Calibri"/>
                <a:cs typeface="Calibri"/>
              </a:rPr>
              <a:t> </a:t>
            </a:r>
            <a:r>
              <a:rPr sz="1400" spc="-5">
                <a:latin typeface="Calibri"/>
                <a:cs typeface="Calibri"/>
              </a:rPr>
              <a:t>(width)</a:t>
            </a:r>
            <a:endParaRPr sz="140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1984805"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a:latin typeface="Times New Roman"/>
              <a:cs typeface="Times New Roman"/>
            </a:endParaRPr>
          </a:p>
          <a:p>
            <a:pPr marL="18415" algn="ctr">
              <a:lnSpc>
                <a:spcPct val="100000"/>
              </a:lnSpc>
            </a:pPr>
            <a:r>
              <a:rPr sz="1600" b="1" spc="-10">
                <a:latin typeface="Calibri"/>
                <a:cs typeface="Calibri"/>
              </a:rPr>
              <a:t>Core</a:t>
            </a:r>
            <a:endParaRPr sz="160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3983988"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a:latin typeface="Calibri"/>
                <a:cs typeface="Calibri"/>
              </a:rPr>
              <a:t>Cladding</a:t>
            </a:r>
            <a:endParaRPr sz="160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391400"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114" name="object 64">
            <a:extLst>
              <a:ext uri="{FF2B5EF4-FFF2-40B4-BE49-F238E27FC236}">
                <a16:creationId xmlns:a16="http://schemas.microsoft.com/office/drawing/2014/main" id="{D9E5D738-CA47-1898-E0D8-DFBC514F5A50}"/>
              </a:ext>
            </a:extLst>
          </p:cNvPr>
          <p:cNvSpPr/>
          <p:nvPr/>
        </p:nvSpPr>
        <p:spPr>
          <a:xfrm>
            <a:off x="8473440"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93378" y="3532730"/>
            <a:ext cx="733425" cy="240029"/>
          </a:xfrm>
          <a:prstGeom prst="rect">
            <a:avLst/>
          </a:prstGeom>
        </p:spPr>
        <p:txBody>
          <a:bodyPr vert="horz" wrap="square" lIns="0" tIns="13335" rIns="0" bIns="0" rtlCol="0">
            <a:spAutoFit/>
          </a:bodyPr>
          <a:lstStyle/>
          <a:p>
            <a:pPr>
              <a:lnSpc>
                <a:spcPct val="100000"/>
              </a:lnSpc>
              <a:spcBef>
                <a:spcPts val="105"/>
              </a:spcBef>
            </a:pPr>
            <a:r>
              <a:rPr sz="1400" spc="5">
                <a:latin typeface="Calibri"/>
                <a:cs typeface="Calibri"/>
              </a:rPr>
              <a:t>W</a:t>
            </a:r>
            <a:r>
              <a:rPr sz="1400" spc="-65">
                <a:latin typeface="Calibri"/>
                <a:cs typeface="Calibri"/>
              </a:rPr>
              <a:t> </a:t>
            </a:r>
            <a:r>
              <a:rPr sz="1400" spc="-5">
                <a:latin typeface="Calibri"/>
                <a:cs typeface="Calibri"/>
              </a:rPr>
              <a:t>(width)</a:t>
            </a:r>
            <a:endParaRPr sz="140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8473440"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a:latin typeface="Times New Roman"/>
              <a:cs typeface="Times New Roman"/>
            </a:endParaRPr>
          </a:p>
          <a:p>
            <a:pPr marL="18415" algn="ctr">
              <a:lnSpc>
                <a:spcPct val="100000"/>
              </a:lnSpc>
            </a:pPr>
            <a:r>
              <a:rPr sz="1600" b="1" spc="-10">
                <a:latin typeface="Calibri"/>
                <a:cs typeface="Calibri"/>
              </a:rPr>
              <a:t>Core</a:t>
            </a:r>
            <a:endParaRPr sz="160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10472623"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a:latin typeface="Calibri"/>
                <a:cs typeface="Calibri"/>
              </a:rPr>
              <a:t>Cladding</a:t>
            </a:r>
            <a:endParaRPr sz="1600">
              <a:latin typeface="Calibri"/>
              <a:cs typeface="Calibri"/>
            </a:endParaRPr>
          </a:p>
        </p:txBody>
      </p:sp>
      <p:sp>
        <p:nvSpPr>
          <p:cNvPr id="120" name="object 73">
            <a:extLst>
              <a:ext uri="{FF2B5EF4-FFF2-40B4-BE49-F238E27FC236}">
                <a16:creationId xmlns:a16="http://schemas.microsoft.com/office/drawing/2014/main" id="{C699977C-9138-F9B9-E43D-0CCB01AEB75F}"/>
              </a:ext>
            </a:extLst>
          </p:cNvPr>
          <p:cNvSpPr txBox="1"/>
          <p:nvPr/>
        </p:nvSpPr>
        <p:spPr>
          <a:xfrm>
            <a:off x="7391400" y="4690819"/>
            <a:ext cx="39061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lang="es-ES" sz="2350">
              <a:latin typeface="Times New Roman"/>
              <a:cs typeface="Times New Roman"/>
            </a:endParaRPr>
          </a:p>
          <a:p>
            <a:pPr marL="18415">
              <a:lnSpc>
                <a:spcPct val="100000"/>
              </a:lnSpc>
            </a:pPr>
            <a:r>
              <a:rPr lang="es-ES" sz="1600" b="1" spc="-10" err="1">
                <a:latin typeface="Calibri"/>
                <a:cs typeface="Calibri"/>
              </a:rPr>
              <a:t>Slab</a:t>
            </a:r>
            <a:endParaRPr sz="1600">
              <a:latin typeface="Calibri"/>
              <a:cs typeface="Calibri"/>
            </a:endParaRPr>
          </a:p>
        </p:txBody>
      </p:sp>
      <p:sp>
        <p:nvSpPr>
          <p:cNvPr id="112" name="object 62">
            <a:extLst>
              <a:ext uri="{FF2B5EF4-FFF2-40B4-BE49-F238E27FC236}">
                <a16:creationId xmlns:a16="http://schemas.microsoft.com/office/drawing/2014/main" id="{04561701-4B4F-F208-98F6-2DAB5C1138D3}"/>
              </a:ext>
            </a:extLst>
          </p:cNvPr>
          <p:cNvSpPr/>
          <p:nvPr/>
        </p:nvSpPr>
        <p:spPr>
          <a:xfrm>
            <a:off x="8575910" y="3994221"/>
            <a:ext cx="56259" cy="694989"/>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1" name="object 62">
            <a:extLst>
              <a:ext uri="{FF2B5EF4-FFF2-40B4-BE49-F238E27FC236}">
                <a16:creationId xmlns:a16="http://schemas.microsoft.com/office/drawing/2014/main" id="{CCA3B0D6-0C9E-B4A6-FA43-1AB5F1821674}"/>
              </a:ext>
            </a:extLst>
          </p:cNvPr>
          <p:cNvSpPr/>
          <p:nvPr/>
        </p:nvSpPr>
        <p:spPr>
          <a:xfrm>
            <a:off x="8233207" y="4689210"/>
            <a:ext cx="55008" cy="613272"/>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13" name="object 63">
            <a:extLst>
              <a:ext uri="{FF2B5EF4-FFF2-40B4-BE49-F238E27FC236}">
                <a16:creationId xmlns:a16="http://schemas.microsoft.com/office/drawing/2014/main" id="{6394166D-0522-24AD-E666-39FE8A3FDC24}"/>
              </a:ext>
            </a:extLst>
          </p:cNvPr>
          <p:cNvSpPr txBox="1"/>
          <p:nvPr/>
        </p:nvSpPr>
        <p:spPr>
          <a:xfrm>
            <a:off x="8351994" y="4887127"/>
            <a:ext cx="674053" cy="228909"/>
          </a:xfrm>
          <a:prstGeom prst="rect">
            <a:avLst/>
          </a:prstGeom>
        </p:spPr>
        <p:txBody>
          <a:bodyPr vert="horz" wrap="square" lIns="0" tIns="13335" rIns="0" bIns="0" rtlCol="0">
            <a:spAutoFit/>
          </a:bodyPr>
          <a:lstStyle/>
          <a:p>
            <a:pPr marR="3175">
              <a:lnSpc>
                <a:spcPct val="100000"/>
              </a:lnSpc>
              <a:spcBef>
                <a:spcPts val="105"/>
              </a:spcBef>
            </a:pPr>
            <a:r>
              <a:rPr lang="es-ES" sz="1400" err="1">
                <a:latin typeface="Calibri"/>
                <a:cs typeface="Calibri"/>
              </a:rPr>
              <a:t>h_slab</a:t>
            </a:r>
            <a:endParaRPr sz="1400">
              <a:latin typeface="Calibri"/>
              <a:cs typeface="Calibri"/>
            </a:endParaRPr>
          </a:p>
        </p:txBody>
      </p:sp>
      <p:sp>
        <p:nvSpPr>
          <p:cNvPr id="122" name="object 63">
            <a:extLst>
              <a:ext uri="{FF2B5EF4-FFF2-40B4-BE49-F238E27FC236}">
                <a16:creationId xmlns:a16="http://schemas.microsoft.com/office/drawing/2014/main" id="{B589EB7D-B26E-4239-A5C2-F96DBBE82162}"/>
              </a:ext>
            </a:extLst>
          </p:cNvPr>
          <p:cNvSpPr txBox="1"/>
          <p:nvPr/>
        </p:nvSpPr>
        <p:spPr>
          <a:xfrm>
            <a:off x="8706378" y="3990085"/>
            <a:ext cx="1380175" cy="228909"/>
          </a:xfrm>
          <a:prstGeom prst="rect">
            <a:avLst/>
          </a:prstGeom>
        </p:spPr>
        <p:txBody>
          <a:bodyPr vert="horz" wrap="square" lIns="0" tIns="13335" rIns="0" bIns="0" rtlCol="0">
            <a:spAutoFit/>
          </a:bodyPr>
          <a:lstStyle/>
          <a:p>
            <a:pPr marR="3175">
              <a:lnSpc>
                <a:spcPct val="100000"/>
              </a:lnSpc>
              <a:spcBef>
                <a:spcPts val="105"/>
              </a:spcBef>
            </a:pPr>
            <a:r>
              <a:rPr lang="es-ES" sz="1400" spc="-10" err="1">
                <a:latin typeface="Calibri"/>
                <a:cs typeface="Calibri"/>
              </a:rPr>
              <a:t>h_core</a:t>
            </a:r>
            <a:r>
              <a:rPr lang="es-ES" sz="1400" spc="-10">
                <a:latin typeface="Calibri"/>
                <a:cs typeface="Calibri"/>
              </a:rPr>
              <a:t> </a:t>
            </a:r>
            <a:endParaRPr sz="140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9306491" y="5257071"/>
            <a:ext cx="1980542" cy="369332"/>
          </a:xfrm>
          <a:prstGeom prst="rect">
            <a:avLst/>
          </a:prstGeom>
          <a:noFill/>
        </p:spPr>
        <p:txBody>
          <a:bodyPr wrap="none" rtlCol="0">
            <a:spAutoFit/>
          </a:bodyPr>
          <a:lstStyle/>
          <a:p>
            <a:pPr algn="ctr"/>
            <a:r>
              <a:rPr lang="en-US" b="1"/>
              <a:t>shallow</a:t>
            </a:r>
            <a:r>
              <a:rPr lang="en-US"/>
              <a:t> waveguide</a:t>
            </a:r>
          </a:p>
        </p:txBody>
      </p:sp>
      <p:sp>
        <p:nvSpPr>
          <p:cNvPr id="8" name="CuadroTexto 7">
            <a:extLst>
              <a:ext uri="{FF2B5EF4-FFF2-40B4-BE49-F238E27FC236}">
                <a16:creationId xmlns:a16="http://schemas.microsoft.com/office/drawing/2014/main" id="{7336B5D8-2D70-3E7A-336D-AF55EC49DEB8}"/>
              </a:ext>
            </a:extLst>
          </p:cNvPr>
          <p:cNvSpPr txBox="1"/>
          <p:nvPr/>
        </p:nvSpPr>
        <p:spPr>
          <a:xfrm>
            <a:off x="2969899" y="5257071"/>
            <a:ext cx="2157554" cy="369332"/>
          </a:xfrm>
          <a:prstGeom prst="rect">
            <a:avLst/>
          </a:prstGeom>
          <a:noFill/>
        </p:spPr>
        <p:txBody>
          <a:bodyPr wrap="square">
            <a:spAutoFit/>
          </a:bodyPr>
          <a:lstStyle/>
          <a:p>
            <a:pPr algn="ctr"/>
            <a:r>
              <a:rPr lang="en-US" b="1"/>
              <a:t>deep</a:t>
            </a:r>
            <a:r>
              <a:rPr lang="en-US"/>
              <a:t> waveguide</a:t>
            </a:r>
          </a:p>
        </p:txBody>
      </p:sp>
    </p:spTree>
    <p:extLst>
      <p:ext uri="{BB962C8B-B14F-4D97-AF65-F5344CB8AC3E}">
        <p14:creationId xmlns:p14="http://schemas.microsoft.com/office/powerpoint/2010/main" val="473922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#1 – Effective index of a waveguide</a:t>
            </a: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1.0 WAVEGUIDES</a:t>
            </a:r>
          </a:p>
        </p:txBody>
      </p:sp>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a:t>INSTRUCTOR:</a:t>
            </a:r>
          </a:p>
          <a:p>
            <a:pPr marL="342900" indent="-342900" algn="just">
              <a:buFont typeface="Arial" panose="020B0604020202020204" pitchFamily="34" charset="0"/>
              <a:buChar char="•"/>
            </a:pPr>
            <a:r>
              <a:rPr lang="en-US" sz="2000"/>
              <a:t>Present Python and </a:t>
            </a:r>
            <a:r>
              <a:rPr lang="en-US" sz="2000" err="1"/>
              <a:t>GDSFactory</a:t>
            </a:r>
            <a:r>
              <a:rPr lang="en-US" sz="2000"/>
              <a:t>: materials, output, results.</a:t>
            </a:r>
          </a:p>
          <a:p>
            <a:pPr marL="342900" indent="-342900" algn="just">
              <a:buFont typeface="Arial" panose="020B0604020202020204" pitchFamily="34" charset="0"/>
              <a:buChar char="•"/>
            </a:pPr>
            <a:r>
              <a:rPr lang="en-US" sz="2000"/>
              <a:t>Explain how to run a simulation for a particular cross-section. </a:t>
            </a:r>
          </a:p>
          <a:p>
            <a:pPr marL="342900" indent="-342900" algn="just">
              <a:buFont typeface="Arial" panose="020B0604020202020204" pitchFamily="34" charset="0"/>
              <a:buChar char="•"/>
            </a:pPr>
            <a:r>
              <a:rPr lang="en-US" sz="2000"/>
              <a:t>Showcase how to change between shallow and deep waveguide.</a:t>
            </a:r>
          </a:p>
          <a:p>
            <a:pPr marL="342900" indent="-342900" algn="just">
              <a:buFont typeface="Arial" panose="020B0604020202020204" pitchFamily="34" charset="0"/>
              <a:buChar char="•"/>
            </a:pPr>
            <a:r>
              <a:rPr lang="en-US" sz="2000"/>
              <a:t>Describe how to change the wavelength and width for the waveguide analysis.</a:t>
            </a:r>
          </a:p>
          <a:p>
            <a:pPr marL="342900" indent="-342900" algn="just">
              <a:buFont typeface="Arial" panose="020B0604020202020204" pitchFamily="34" charset="0"/>
              <a:buChar char="•"/>
            </a:pPr>
            <a:r>
              <a:rPr lang="en-US" sz="2000"/>
              <a:t>Describe the outputs.</a:t>
            </a:r>
          </a:p>
          <a:p>
            <a:pPr marL="0" indent="0" algn="just">
              <a:buNone/>
            </a:pPr>
            <a:endParaRPr lang="en-US" sz="2000" b="1"/>
          </a:p>
          <a:p>
            <a:pPr marL="0" indent="0" algn="just">
              <a:buNone/>
            </a:pPr>
            <a:endParaRPr lang="en-US" sz="2000" b="1"/>
          </a:p>
          <a:p>
            <a:pPr marL="0" indent="0" algn="just">
              <a:buNone/>
            </a:pPr>
            <a:r>
              <a:rPr lang="en-US" sz="2000" b="1"/>
              <a:t>ALL EXAMPLE #1: </a:t>
            </a:r>
            <a:r>
              <a:rPr lang="en-US" sz="2000"/>
              <a:t>waveguide width 1.2 µm, deep </a:t>
            </a:r>
            <a:r>
              <a:rPr lang="en-US" sz="2000" err="1"/>
              <a:t>wvg</a:t>
            </a:r>
            <a:r>
              <a:rPr lang="en-US" sz="2000"/>
              <a:t>, wavelength start and end same 1.55 µm </a:t>
            </a:r>
            <a:r>
              <a:rPr lang="en-US" sz="2000">
                <a:sym typeface="Wingdings" pitchFamily="2" charset="2"/>
              </a:rPr>
              <a:t> all ”Run”</a:t>
            </a:r>
            <a:endParaRPr lang="en-US" sz="2000"/>
          </a:p>
          <a:p>
            <a:pPr algn="just"/>
            <a:endParaRPr lang="en-US" sz="2000" b="1" i="1"/>
          </a:p>
          <a:p>
            <a:pPr algn="just"/>
            <a:endParaRPr lang="en-US" sz="2000" kern="0">
              <a:solidFill>
                <a:sysClr val="windowText" lastClr="000000"/>
              </a:solidFill>
            </a:endParaRPr>
          </a:p>
        </p:txBody>
      </p:sp>
      <p:cxnSp>
        <p:nvCxnSpPr>
          <p:cNvPr id="6" name="Conector recto de flecha 5">
            <a:extLst>
              <a:ext uri="{FF2B5EF4-FFF2-40B4-BE49-F238E27FC236}">
                <a16:creationId xmlns:a16="http://schemas.microsoft.com/office/drawing/2014/main" id="{61120501-9BC1-AE09-3773-41698F90E2BE}"/>
              </a:ext>
            </a:extLst>
          </p:cNvPr>
          <p:cNvCxnSpPr/>
          <p:nvPr/>
        </p:nvCxnSpPr>
        <p:spPr>
          <a:xfrm>
            <a:off x="3810000" y="5029200"/>
            <a:ext cx="3886200"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382C2-5557-9848-4A6E-F42878B8FC2E}"/>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B6C75235-BDE0-70A6-F603-A05FE6971CBB}"/>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#1 – Effective index of a waveguide</a:t>
            </a: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F26E097B-7489-0902-D5A0-19F3C52A019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0A7E010-87E2-BC18-5BE2-6CDD5880EF13}"/>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4A7C141E-760A-199C-BEB9-612DEEB24471}"/>
              </a:ext>
            </a:extLst>
          </p:cNvPr>
          <p:cNvSpPr>
            <a:spLocks noGrp="1"/>
          </p:cNvSpPr>
          <p:nvPr>
            <p:ph type="ftr" sz="quarter" idx="5"/>
          </p:nvPr>
        </p:nvSpPr>
        <p:spPr/>
        <p:txBody>
          <a:bodyPr/>
          <a:lstStyle/>
          <a:p>
            <a:pPr marL="12700">
              <a:spcBef>
                <a:spcPts val="15"/>
              </a:spcBef>
            </a:pPr>
            <a:r>
              <a:rPr lang="es-ES" spc="-5"/>
              <a:t>LAB 1.0 WAVEGUIDES</a:t>
            </a:r>
          </a:p>
        </p:txBody>
      </p:sp>
      <p:sp>
        <p:nvSpPr>
          <p:cNvPr id="4" name="Marcador de texto 2">
            <a:extLst>
              <a:ext uri="{FF2B5EF4-FFF2-40B4-BE49-F238E27FC236}">
                <a16:creationId xmlns:a16="http://schemas.microsoft.com/office/drawing/2014/main" id="{3676D372-0ACB-092A-A88E-67F8EC9E3E21}"/>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endParaRPr lang="en-US" sz="2000" b="1" i="1"/>
          </a:p>
          <a:p>
            <a:pPr algn="just"/>
            <a:endParaRPr lang="en-US" sz="2000" kern="0">
              <a:solidFill>
                <a:sysClr val="windowText" lastClr="000000"/>
              </a:solidFill>
            </a:endParaRPr>
          </a:p>
        </p:txBody>
      </p:sp>
      <p:sp>
        <p:nvSpPr>
          <p:cNvPr id="2" name="CuadroTexto 1">
            <a:extLst>
              <a:ext uri="{FF2B5EF4-FFF2-40B4-BE49-F238E27FC236}">
                <a16:creationId xmlns:a16="http://schemas.microsoft.com/office/drawing/2014/main" id="{2BA14401-BBF7-43A8-BD2F-FF430BA8171D}"/>
              </a:ext>
            </a:extLst>
          </p:cNvPr>
          <p:cNvSpPr txBox="1"/>
          <p:nvPr/>
        </p:nvSpPr>
        <p:spPr>
          <a:xfrm>
            <a:off x="608012" y="1219958"/>
            <a:ext cx="11199971" cy="4893647"/>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Document all your results: </a:t>
            </a:r>
            <a:r>
              <a:rPr lang="en-US" sz="1200" b="1">
                <a:latin typeface="Arial" panose="020B0604020202020204" pitchFamily="34" charset="0"/>
                <a:cs typeface="Arial" panose="020B0604020202020204" pitchFamily="34" charset="0"/>
              </a:rPr>
              <a:t>EXAMPLE #1</a:t>
            </a:r>
          </a:p>
          <a:p>
            <a:pPr algn="just"/>
            <a:endParaRPr lang="en-US" sz="1200">
              <a:latin typeface="Arial" panose="020B0604020202020204" pitchFamily="34" charset="0"/>
              <a:cs typeface="Arial" panose="020B0604020202020204" pitchFamily="34" charset="0"/>
            </a:endParaRPr>
          </a:p>
          <a:p>
            <a:pPr algn="just"/>
            <a:r>
              <a:rPr lang="en-US" sz="1200">
                <a:latin typeface="Arial" panose="020B0604020202020204" pitchFamily="34" charset="0"/>
                <a:cs typeface="Arial" panose="020B0604020202020204" pitchFamily="34" charset="0"/>
              </a:rPr>
              <a:t>Primero, </a:t>
            </a:r>
            <a:r>
              <a:rPr lang="en-US" sz="1200" err="1">
                <a:latin typeface="Arial" panose="020B0604020202020204" pitchFamily="34" charset="0"/>
                <a:cs typeface="Arial" panose="020B0604020202020204" pitchFamily="34" charset="0"/>
              </a:rPr>
              <a:t>hemos</a:t>
            </a:r>
            <a:r>
              <a:rPr lang="en-US" sz="1200">
                <a:latin typeface="Arial" panose="020B0604020202020204" pitchFamily="34" charset="0"/>
                <a:cs typeface="Arial" panose="020B0604020202020204" pitchFamily="34" charset="0"/>
              </a:rPr>
              <a:t> visto </a:t>
            </a:r>
            <a:r>
              <a:rPr lang="en-US" sz="1200" err="1">
                <a:latin typeface="Arial" panose="020B0604020202020204" pitchFamily="34" charset="0"/>
                <a:cs typeface="Arial" panose="020B0604020202020204" pitchFamily="34" charset="0"/>
              </a:rPr>
              <a:t>cómo</a:t>
            </a:r>
            <a:r>
              <a:rPr lang="en-US" sz="1200">
                <a:latin typeface="Arial" panose="020B0604020202020204" pitchFamily="34" charset="0"/>
                <a:cs typeface="Arial" panose="020B0604020202020204" pitchFamily="34" charset="0"/>
              </a:rPr>
              <a:t> cambia </a:t>
            </a:r>
            <a:r>
              <a:rPr lang="en-US" sz="1200" err="1">
                <a:latin typeface="Arial" panose="020B0604020202020204" pitchFamily="34" charset="0"/>
                <a:cs typeface="Arial" panose="020B0604020202020204" pitchFamily="34" charset="0"/>
              </a:rPr>
              <a:t>el</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índice</a:t>
            </a:r>
            <a:r>
              <a:rPr lang="en-US" sz="1200">
                <a:latin typeface="Arial" panose="020B0604020202020204" pitchFamily="34" charset="0"/>
                <a:cs typeface="Arial" panose="020B0604020202020204" pitchFamily="34" charset="0"/>
              </a:rPr>
              <a:t> de </a:t>
            </a:r>
            <a:r>
              <a:rPr lang="en-US" sz="1200" err="1">
                <a:latin typeface="Arial" panose="020B0604020202020204" pitchFamily="34" charset="0"/>
                <a:cs typeface="Arial" panose="020B0604020202020204" pitchFamily="34" charset="0"/>
              </a:rPr>
              <a:t>refracción</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en</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función</a:t>
            </a:r>
            <a:r>
              <a:rPr lang="en-US" sz="1200">
                <a:latin typeface="Arial" panose="020B0604020202020204" pitchFamily="34" charset="0"/>
                <a:cs typeface="Arial" panose="020B0604020202020204" pitchFamily="34" charset="0"/>
              </a:rPr>
              <a:t> de la longitude de </a:t>
            </a:r>
            <a:r>
              <a:rPr lang="en-US" sz="1200" err="1">
                <a:latin typeface="Arial" panose="020B0604020202020204" pitchFamily="34" charset="0"/>
                <a:cs typeface="Arial" panose="020B0604020202020204" pitchFamily="34" charset="0"/>
              </a:rPr>
              <a:t>onda</a:t>
            </a:r>
            <a:r>
              <a:rPr lang="en-US" sz="1200">
                <a:latin typeface="Arial" panose="020B0604020202020204" pitchFamily="34" charset="0"/>
                <a:cs typeface="Arial" panose="020B0604020202020204" pitchFamily="34" charset="0"/>
              </a:rPr>
              <a:t> de </a:t>
            </a:r>
            <a:r>
              <a:rPr lang="en-US" sz="1200" err="1">
                <a:latin typeface="Arial" panose="020B0604020202020204" pitchFamily="34" charset="0"/>
                <a:cs typeface="Arial" panose="020B0604020202020204" pitchFamily="34" charset="0"/>
              </a:rPr>
              <a:t>cada</a:t>
            </a:r>
            <a:r>
              <a:rPr lang="en-US" sz="1200">
                <a:latin typeface="Arial" panose="020B0604020202020204" pitchFamily="34" charset="0"/>
                <a:cs typeface="Arial" panose="020B0604020202020204" pitchFamily="34" charset="0"/>
              </a:rPr>
              <a:t> material (Si, </a:t>
            </a:r>
            <a:r>
              <a:rPr lang="en-US" sz="1200" err="1">
                <a:latin typeface="Arial" panose="020B0604020202020204" pitchFamily="34" charset="0"/>
                <a:cs typeface="Arial" panose="020B0604020202020204" pitchFamily="34" charset="0"/>
              </a:rPr>
              <a:t>SiNx</a:t>
            </a:r>
            <a:r>
              <a:rPr lang="en-US" sz="1200">
                <a:latin typeface="Arial" panose="020B0604020202020204" pitchFamily="34" charset="0"/>
                <a:cs typeface="Arial" panose="020B0604020202020204" pitchFamily="34" charset="0"/>
              </a:rPr>
              <a:t> y SiO2). </a:t>
            </a:r>
          </a:p>
          <a:p>
            <a:pPr algn="just"/>
            <a:r>
              <a:rPr lang="en-US" sz="1200">
                <a:latin typeface="Arial" panose="020B0604020202020204" pitchFamily="34" charset="0"/>
                <a:cs typeface="Arial" panose="020B0604020202020204" pitchFamily="34" charset="0"/>
              </a:rPr>
              <a:t>Con </a:t>
            </a:r>
            <a:r>
              <a:rPr lang="en-US" sz="1200" err="1">
                <a:latin typeface="Arial" panose="020B0604020202020204" pitchFamily="34" charset="0"/>
                <a:cs typeface="Arial" panose="020B0604020202020204" pitchFamily="34" charset="0"/>
              </a:rPr>
              <a:t>ello</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observamos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en</a:t>
            </a:r>
            <a:r>
              <a:rPr lang="en-US" sz="1200">
                <a:latin typeface="Arial" panose="020B0604020202020204" pitchFamily="34" charset="0"/>
                <a:cs typeface="Arial" panose="020B0604020202020204" pitchFamily="34" charset="0"/>
              </a:rPr>
              <a:t> la </a:t>
            </a:r>
            <a:r>
              <a:rPr lang="en-US" sz="1200" err="1">
                <a:latin typeface="Arial" panose="020B0604020202020204" pitchFamily="34" charset="0"/>
                <a:cs typeface="Arial" panose="020B0604020202020204" pitchFamily="34" charset="0"/>
              </a:rPr>
              <a:t>gráfica</a:t>
            </a:r>
            <a:r>
              <a:rPr lang="en-US" sz="1200">
                <a:latin typeface="Arial" panose="020B0604020202020204" pitchFamily="34" charset="0"/>
                <a:cs typeface="Arial" panose="020B0604020202020204" pitchFamily="34" charset="0"/>
              </a:rPr>
              <a:t> del </a:t>
            </a:r>
            <a:r>
              <a:rPr lang="en-US" sz="1200" err="1">
                <a:latin typeface="Arial" panose="020B0604020202020204" pitchFamily="34" charset="0"/>
                <a:cs typeface="Arial" panose="020B0604020202020204" pitchFamily="34" charset="0"/>
              </a:rPr>
              <a:t>apartado</a:t>
            </a:r>
            <a:r>
              <a:rPr lang="en-US" sz="1200">
                <a:latin typeface="Arial" panose="020B0604020202020204" pitchFamily="34" charset="0"/>
                <a:cs typeface="Arial" panose="020B0604020202020204" pitchFamily="34" charset="0"/>
              </a:rPr>
              <a:t> 1.2 </a:t>
            </a:r>
            <a:r>
              <a:rPr lang="en-US" sz="1200" err="1">
                <a:latin typeface="Arial" panose="020B0604020202020204" pitchFamily="34" charset="0"/>
                <a:cs typeface="Arial" panose="020B0604020202020204" pitchFamily="34" charset="0"/>
              </a:rPr>
              <a:t>que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el</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índice</a:t>
            </a:r>
            <a:r>
              <a:rPr lang="en-US" sz="1200">
                <a:latin typeface="Arial" panose="020B0604020202020204" pitchFamily="34" charset="0"/>
                <a:cs typeface="Arial" panose="020B0604020202020204" pitchFamily="34" charset="0"/>
              </a:rPr>
              <a:t> de </a:t>
            </a:r>
            <a:r>
              <a:rPr lang="en-US" sz="1200" err="1">
                <a:latin typeface="Arial" panose="020B0604020202020204" pitchFamily="34" charset="0"/>
                <a:cs typeface="Arial" panose="020B0604020202020204" pitchFamily="34" charset="0"/>
              </a:rPr>
              <a:t>refración</a:t>
            </a:r>
            <a:r>
              <a:rPr lang="en-US" sz="1200">
                <a:latin typeface="Arial" panose="020B0604020202020204" pitchFamily="34" charset="0"/>
                <a:cs typeface="Arial" panose="020B0604020202020204" pitchFamily="34" charset="0"/>
              </a:rPr>
              <a:t> de la </a:t>
            </a:r>
            <a:r>
              <a:rPr lang="en-US" sz="1200" err="1">
                <a:latin typeface="Arial" panose="020B0604020202020204" pitchFamily="34" charset="0"/>
                <a:cs typeface="Arial" panose="020B0604020202020204" pitchFamily="34" charset="0"/>
              </a:rPr>
              <a:t>cubierta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está</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en</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torno</a:t>
            </a:r>
            <a:r>
              <a:rPr lang="en-US" sz="1200">
                <a:latin typeface="Arial" panose="020B0604020202020204" pitchFamily="34" charset="0"/>
                <a:cs typeface="Arial" panose="020B0604020202020204" pitchFamily="34" charset="0"/>
              </a:rPr>
              <a:t> a 1.45 (SiO2) y </a:t>
            </a:r>
            <a:r>
              <a:rPr lang="en-US" sz="1200" err="1">
                <a:latin typeface="Arial" panose="020B0604020202020204" pitchFamily="34" charset="0"/>
                <a:cs typeface="Arial" panose="020B0604020202020204" pitchFamily="34" charset="0"/>
              </a:rPr>
              <a:t>el</a:t>
            </a:r>
            <a:r>
              <a:rPr lang="en-US" sz="1200">
                <a:latin typeface="Arial" panose="020B0604020202020204" pitchFamily="34" charset="0"/>
                <a:cs typeface="Arial" panose="020B0604020202020204" pitchFamily="34" charset="0"/>
              </a:rPr>
              <a:t> del </a:t>
            </a:r>
            <a:r>
              <a:rPr lang="en-US" sz="1200" err="1">
                <a:latin typeface="Arial" panose="020B0604020202020204" pitchFamily="34" charset="0"/>
                <a:cs typeface="Arial" panose="020B0604020202020204" pitchFamily="34" charset="0"/>
              </a:rPr>
              <a:t>núcleo</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entorno</a:t>
            </a:r>
            <a:r>
              <a:rPr lang="en-US" sz="1200">
                <a:latin typeface="Arial" panose="020B0604020202020204" pitchFamily="34" charset="0"/>
                <a:cs typeface="Arial" panose="020B0604020202020204" pitchFamily="34" charset="0"/>
              </a:rPr>
              <a:t> a 2 (</a:t>
            </a:r>
            <a:r>
              <a:rPr lang="en-US" sz="1200" err="1">
                <a:latin typeface="Arial" panose="020B0604020202020204" pitchFamily="34" charset="0"/>
                <a:cs typeface="Arial" panose="020B0604020202020204" pitchFamily="34" charset="0"/>
              </a:rPr>
              <a:t>SiNx</a:t>
            </a:r>
            <a:r>
              <a:rPr lang="en-US" sz="1200">
                <a:latin typeface="Arial" panose="020B0604020202020204" pitchFamily="34" charset="0"/>
                <a:cs typeface="Arial" panose="020B0604020202020204" pitchFamily="34" charset="0"/>
              </a:rPr>
              <a:t>).</a:t>
            </a:r>
          </a:p>
          <a:p>
            <a:pPr algn="just"/>
            <a:r>
              <a:rPr lang="en-US" sz="1200">
                <a:latin typeface="Arial" panose="020B0604020202020204" pitchFamily="34" charset="0"/>
                <a:cs typeface="Arial" panose="020B0604020202020204" pitchFamily="34" charset="0"/>
              </a:rPr>
              <a:t>  </a:t>
            </a: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pic>
        <p:nvPicPr>
          <p:cNvPr id="8" name="Imagen 7" descr="Gráfico&#10;&#10;El contenido generado por IA puede ser incorrecto.">
            <a:extLst>
              <a:ext uri="{FF2B5EF4-FFF2-40B4-BE49-F238E27FC236}">
                <a16:creationId xmlns:a16="http://schemas.microsoft.com/office/drawing/2014/main" id="{3A196B6F-6D6F-57E6-2FFF-C9BCED2D1063}"/>
              </a:ext>
            </a:extLst>
          </p:cNvPr>
          <p:cNvPicPr>
            <a:picLocks noChangeAspect="1"/>
          </p:cNvPicPr>
          <p:nvPr/>
        </p:nvPicPr>
        <p:blipFill>
          <a:blip r:embed="rId5"/>
          <a:stretch>
            <a:fillRect/>
          </a:stretch>
        </p:blipFill>
        <p:spPr>
          <a:xfrm>
            <a:off x="3657600" y="2209800"/>
            <a:ext cx="4876800" cy="3565170"/>
          </a:xfrm>
          <a:prstGeom prst="rect">
            <a:avLst/>
          </a:prstGeom>
        </p:spPr>
      </p:pic>
    </p:spTree>
    <p:extLst>
      <p:ext uri="{BB962C8B-B14F-4D97-AF65-F5344CB8AC3E}">
        <p14:creationId xmlns:p14="http://schemas.microsoft.com/office/powerpoint/2010/main" val="708242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54DB0-3D9E-5B29-043C-8DC4BB5867A2}"/>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5B9F33F-4CDE-962C-A8E7-EB07E3187709}"/>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#1 – Effective index of a waveguide</a:t>
            </a: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0D2214CA-576E-65C4-F372-28FD8009DE8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84D3D793-6328-4788-9340-465698D11146}"/>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56833482-00DB-D29A-0BDB-B8A123493D0E}"/>
              </a:ext>
            </a:extLst>
          </p:cNvPr>
          <p:cNvSpPr>
            <a:spLocks noGrp="1"/>
          </p:cNvSpPr>
          <p:nvPr>
            <p:ph type="ftr" sz="quarter" idx="5"/>
          </p:nvPr>
        </p:nvSpPr>
        <p:spPr/>
        <p:txBody>
          <a:bodyPr/>
          <a:lstStyle/>
          <a:p>
            <a:pPr marL="12700">
              <a:spcBef>
                <a:spcPts val="15"/>
              </a:spcBef>
            </a:pPr>
            <a:r>
              <a:rPr lang="es-ES" spc="-5"/>
              <a:t>LAB 1.0 WAVEGUIDES</a:t>
            </a:r>
          </a:p>
        </p:txBody>
      </p:sp>
      <p:sp>
        <p:nvSpPr>
          <p:cNvPr id="4" name="Marcador de texto 2">
            <a:extLst>
              <a:ext uri="{FF2B5EF4-FFF2-40B4-BE49-F238E27FC236}">
                <a16:creationId xmlns:a16="http://schemas.microsoft.com/office/drawing/2014/main" id="{8ED2DD6D-B2DA-AC0B-084C-E00E48598704}"/>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a:t>INSTRUCTOR:</a:t>
            </a:r>
          </a:p>
          <a:p>
            <a:pPr marL="342900" indent="-342900" algn="just">
              <a:buFont typeface="Arial" panose="020B0604020202020204" pitchFamily="34" charset="0"/>
              <a:buChar char="•"/>
            </a:pPr>
            <a:r>
              <a:rPr lang="en-US" sz="2000"/>
              <a:t>Present Python and </a:t>
            </a:r>
            <a:r>
              <a:rPr lang="en-US" sz="2000" err="1"/>
              <a:t>GDSFactory</a:t>
            </a:r>
            <a:r>
              <a:rPr lang="en-US" sz="2000"/>
              <a:t>: materials, output, results.</a:t>
            </a:r>
          </a:p>
          <a:p>
            <a:pPr marL="342900" indent="-342900" algn="just">
              <a:buFont typeface="Arial" panose="020B0604020202020204" pitchFamily="34" charset="0"/>
              <a:buChar char="•"/>
            </a:pPr>
            <a:r>
              <a:rPr lang="en-US" sz="2000"/>
              <a:t>Explain how to run a simulation for a particular cross-section. </a:t>
            </a:r>
          </a:p>
          <a:p>
            <a:pPr marL="342900" indent="-342900" algn="just">
              <a:buFont typeface="Arial" panose="020B0604020202020204" pitchFamily="34" charset="0"/>
              <a:buChar char="•"/>
            </a:pPr>
            <a:r>
              <a:rPr lang="en-US" sz="2000"/>
              <a:t>Showcase how to change between shallow and deep waveguide.</a:t>
            </a:r>
          </a:p>
          <a:p>
            <a:pPr marL="342900" indent="-342900" algn="just">
              <a:buFont typeface="Arial" panose="020B0604020202020204" pitchFamily="34" charset="0"/>
              <a:buChar char="•"/>
            </a:pPr>
            <a:r>
              <a:rPr lang="en-US" sz="2000"/>
              <a:t>Describe how to change the wavelength and width for the waveguide analysis.</a:t>
            </a:r>
          </a:p>
          <a:p>
            <a:pPr marL="342900" indent="-342900" algn="just">
              <a:buFont typeface="Arial" panose="020B0604020202020204" pitchFamily="34" charset="0"/>
              <a:buChar char="•"/>
            </a:pPr>
            <a:r>
              <a:rPr lang="en-US" sz="2000"/>
              <a:t>Describe the outputs.</a:t>
            </a:r>
          </a:p>
          <a:p>
            <a:pPr marL="0" indent="0" algn="just">
              <a:buNone/>
            </a:pPr>
            <a:endParaRPr lang="en-US" sz="2000" b="1"/>
          </a:p>
          <a:p>
            <a:pPr marL="0" indent="0" algn="just">
              <a:buNone/>
            </a:pPr>
            <a:endParaRPr lang="en-US" sz="2000" b="1"/>
          </a:p>
          <a:p>
            <a:pPr marL="0" indent="0" algn="just">
              <a:buNone/>
            </a:pPr>
            <a:r>
              <a:rPr lang="en-US" sz="2000" b="1"/>
              <a:t>ALL: </a:t>
            </a:r>
            <a:r>
              <a:rPr lang="en-US" sz="2000"/>
              <a:t>Follow</a:t>
            </a:r>
            <a:r>
              <a:rPr lang="en-US" sz="2000" b="1"/>
              <a:t> </a:t>
            </a:r>
            <a:r>
              <a:rPr lang="en-US" sz="2000"/>
              <a:t>instructor, that will show how to 1) plot mode, 2) explore the results (neff …)</a:t>
            </a:r>
          </a:p>
          <a:p>
            <a:pPr algn="just"/>
            <a:endParaRPr lang="en-US" sz="2000" b="1" i="1"/>
          </a:p>
          <a:p>
            <a:pPr algn="just"/>
            <a:endParaRPr lang="en-US" sz="2000" kern="0">
              <a:solidFill>
                <a:sysClr val="windowText" lastClr="000000"/>
              </a:solidFill>
            </a:endParaRPr>
          </a:p>
        </p:txBody>
      </p:sp>
      <p:cxnSp>
        <p:nvCxnSpPr>
          <p:cNvPr id="5" name="Conector recto de flecha 4">
            <a:extLst>
              <a:ext uri="{FF2B5EF4-FFF2-40B4-BE49-F238E27FC236}">
                <a16:creationId xmlns:a16="http://schemas.microsoft.com/office/drawing/2014/main" id="{3C0F8246-6140-902E-4278-0DB513499976}"/>
              </a:ext>
            </a:extLst>
          </p:cNvPr>
          <p:cNvCxnSpPr/>
          <p:nvPr/>
        </p:nvCxnSpPr>
        <p:spPr>
          <a:xfrm>
            <a:off x="3810000" y="5029200"/>
            <a:ext cx="3886200"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147843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6C9F2-1920-3324-FE7E-FB93BA32F9B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B7318EC3-FB31-1DC5-E85C-B7297572C66A}"/>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#1 – Effective index of a waveguide</a:t>
            </a: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556443DF-73E2-7FE7-9657-9BE3E57B3C9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2C1A0C7-8EC6-14A0-E58A-6157D15BF8DB}"/>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2A22959B-55A6-CD2D-4CAB-E370EC7B897F}"/>
              </a:ext>
            </a:extLst>
          </p:cNvPr>
          <p:cNvSpPr>
            <a:spLocks noGrp="1"/>
          </p:cNvSpPr>
          <p:nvPr>
            <p:ph type="ftr" sz="quarter" idx="5"/>
          </p:nvPr>
        </p:nvSpPr>
        <p:spPr/>
        <p:txBody>
          <a:bodyPr/>
          <a:lstStyle/>
          <a:p>
            <a:pPr marL="12700">
              <a:spcBef>
                <a:spcPts val="15"/>
              </a:spcBef>
            </a:pPr>
            <a:r>
              <a:rPr lang="es-ES" spc="-5"/>
              <a:t>LAB 1.0 WAVEGUIDES</a:t>
            </a:r>
          </a:p>
        </p:txBody>
      </p:sp>
      <p:sp>
        <p:nvSpPr>
          <p:cNvPr id="4" name="Marcador de texto 2">
            <a:extLst>
              <a:ext uri="{FF2B5EF4-FFF2-40B4-BE49-F238E27FC236}">
                <a16:creationId xmlns:a16="http://schemas.microsoft.com/office/drawing/2014/main" id="{5C0D8523-5B2C-6D73-6D65-8DED8C93FCC0}"/>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endParaRPr lang="en-US" sz="2000" b="1" i="1"/>
          </a:p>
          <a:p>
            <a:pPr algn="just"/>
            <a:endParaRPr lang="en-US" sz="2000" kern="0">
              <a:solidFill>
                <a:sysClr val="windowText" lastClr="000000"/>
              </a:solidFill>
            </a:endParaRPr>
          </a:p>
        </p:txBody>
      </p:sp>
      <p:sp>
        <p:nvSpPr>
          <p:cNvPr id="2" name="CuadroTexto 1">
            <a:extLst>
              <a:ext uri="{FF2B5EF4-FFF2-40B4-BE49-F238E27FC236}">
                <a16:creationId xmlns:a16="http://schemas.microsoft.com/office/drawing/2014/main" id="{DFD2CA18-A9AE-0107-CDF2-B50EC155C7C7}"/>
              </a:ext>
            </a:extLst>
          </p:cNvPr>
          <p:cNvSpPr txBox="1"/>
          <p:nvPr/>
        </p:nvSpPr>
        <p:spPr>
          <a:xfrm>
            <a:off x="685800" y="1222267"/>
            <a:ext cx="11199971" cy="3970318"/>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Document all your results (neff, plot fields of different modes, comparison between different polarizations…)</a:t>
            </a:r>
          </a:p>
          <a:p>
            <a:pPr algn="just"/>
            <a:endParaRPr lang="en-US" sz="1200">
              <a:latin typeface="Arial" panose="020B0604020202020204" pitchFamily="34" charset="0"/>
              <a:cs typeface="Arial" panose="020B0604020202020204" pitchFamily="34" charset="0"/>
            </a:endParaRPr>
          </a:p>
          <a:p>
            <a:pPr marL="171450" indent="-171450" algn="just">
              <a:buFont typeface="Arial" panose="020B0604020202020204" pitchFamily="34" charset="0"/>
              <a:buChar char="•"/>
            </a:pPr>
            <a:r>
              <a:rPr lang="en-US" sz="1200" b="1" err="1">
                <a:latin typeface="Arial" panose="020B0604020202020204" pitchFamily="34" charset="0"/>
                <a:cs typeface="Arial" panose="020B0604020202020204" pitchFamily="34" charset="0"/>
              </a:rPr>
              <a:t>neff</a:t>
            </a:r>
            <a:r>
              <a:rPr lang="en-US" sz="1200">
                <a:latin typeface="Arial" panose="020B0604020202020204" pitchFamily="34" charset="0"/>
                <a:cs typeface="Arial" panose="020B0604020202020204" pitchFamily="34" charset="0"/>
              </a:rPr>
              <a:t>: De </a:t>
            </a:r>
            <a:r>
              <a:rPr lang="en-US" sz="1200" err="1">
                <a:latin typeface="Arial" panose="020B0604020202020204" pitchFamily="34" charset="0"/>
                <a:cs typeface="Arial" panose="020B0604020202020204" pitchFamily="34" charset="0"/>
              </a:rPr>
              <a:t>los</a:t>
            </a:r>
            <a:r>
              <a:rPr lang="en-US" sz="1200">
                <a:latin typeface="Arial" panose="020B0604020202020204" pitchFamily="34" charset="0"/>
                <a:cs typeface="Arial" panose="020B0604020202020204" pitchFamily="34" charset="0"/>
              </a:rPr>
              <a:t> 4 </a:t>
            </a:r>
            <a:r>
              <a:rPr lang="en-US" sz="1200" err="1">
                <a:latin typeface="Arial" panose="020B0604020202020204" pitchFamily="34" charset="0"/>
                <a:cs typeface="Arial" panose="020B0604020202020204" pitchFamily="34" charset="0"/>
              </a:rPr>
              <a:t>índices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efectivos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que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hemos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encontrado</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donde</a:t>
            </a:r>
            <a:r>
              <a:rPr lang="en-US" sz="1200">
                <a:latin typeface="Arial" panose="020B0604020202020204" pitchFamily="34" charset="0"/>
                <a:cs typeface="Arial" panose="020B0604020202020204" pitchFamily="34" charset="0"/>
              </a:rPr>
              <a:t> la </a:t>
            </a:r>
            <a:r>
              <a:rPr lang="en-US" sz="1200" err="1">
                <a:latin typeface="Arial" panose="020B0604020202020204" pitchFamily="34" charset="0"/>
                <a:cs typeface="Arial" panose="020B0604020202020204" pitchFamily="34" charset="0"/>
              </a:rPr>
              <a:t>parte</a:t>
            </a:r>
            <a:r>
              <a:rPr lang="en-US" sz="1200">
                <a:latin typeface="Arial" panose="020B0604020202020204" pitchFamily="34" charset="0"/>
                <a:cs typeface="Arial" panose="020B0604020202020204" pitchFamily="34" charset="0"/>
              </a:rPr>
              <a:t> real es </a:t>
            </a:r>
            <a:r>
              <a:rPr lang="en-US" sz="1200" err="1">
                <a:latin typeface="Arial" panose="020B0604020202020204" pitchFamily="34" charset="0"/>
                <a:cs typeface="Arial" panose="020B0604020202020204" pitchFamily="34" charset="0"/>
              </a:rPr>
              <a:t>el</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índice</a:t>
            </a:r>
            <a:r>
              <a:rPr lang="en-US" sz="1200">
                <a:latin typeface="Arial" panose="020B0604020202020204" pitchFamily="34" charset="0"/>
                <a:cs typeface="Arial" panose="020B0604020202020204" pitchFamily="34" charset="0"/>
              </a:rPr>
              <a:t> de </a:t>
            </a:r>
            <a:r>
              <a:rPr lang="en-US" sz="1200" err="1">
                <a:latin typeface="Arial" panose="020B0604020202020204" pitchFamily="34" charset="0"/>
                <a:cs typeface="Arial" panose="020B0604020202020204" pitchFamily="34" charset="0"/>
              </a:rPr>
              <a:t>refracción</a:t>
            </a:r>
            <a:r>
              <a:rPr lang="en-US" sz="1200">
                <a:latin typeface="Arial" panose="020B0604020202020204" pitchFamily="34" charset="0"/>
                <a:cs typeface="Arial" panose="020B0604020202020204" pitchFamily="34" charset="0"/>
              </a:rPr>
              <a:t> y la </a:t>
            </a:r>
            <a:r>
              <a:rPr lang="en-US" sz="1200" err="1">
                <a:latin typeface="Arial" panose="020B0604020202020204" pitchFamily="34" charset="0"/>
                <a:cs typeface="Arial" panose="020B0604020202020204" pitchFamily="34" charset="0"/>
              </a:rPr>
              <a:t>imaginaria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el</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índice</a:t>
            </a:r>
            <a:r>
              <a:rPr lang="en-US" sz="1200">
                <a:latin typeface="Arial" panose="020B0604020202020204" pitchFamily="34" charset="0"/>
                <a:cs typeface="Arial" panose="020B0604020202020204" pitchFamily="34" charset="0"/>
              </a:rPr>
              <a:t> de </a:t>
            </a:r>
            <a:r>
              <a:rPr lang="en-US" sz="1200" err="1">
                <a:latin typeface="Arial" panose="020B0604020202020204" pitchFamily="34" charset="0"/>
                <a:cs typeface="Arial" panose="020B0604020202020204" pitchFamily="34" charset="0"/>
              </a:rPr>
              <a:t>absorción</a:t>
            </a:r>
            <a:r>
              <a:rPr lang="en-US" sz="1200">
                <a:latin typeface="Arial" panose="020B0604020202020204" pitchFamily="34" charset="0"/>
                <a:cs typeface="Arial" panose="020B0604020202020204" pitchFamily="34" charset="0"/>
              </a:rPr>
              <a:t>, solo se </a:t>
            </a:r>
            <a:r>
              <a:rPr lang="en-US" sz="1200" err="1">
                <a:latin typeface="Arial" panose="020B0604020202020204" pitchFamily="34" charset="0"/>
                <a:cs typeface="Arial" panose="020B0604020202020204" pitchFamily="34" charset="0"/>
              </a:rPr>
              <a:t>propagan</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los</a:t>
            </a:r>
            <a:r>
              <a:rPr lang="en-US" sz="1200">
                <a:latin typeface="Arial" panose="020B0604020202020204" pitchFamily="34" charset="0"/>
                <a:cs typeface="Arial" panose="020B0604020202020204" pitchFamily="34" charset="0"/>
              </a:rPr>
              <a:t> dos </a:t>
            </a:r>
            <a:r>
              <a:rPr lang="en-US" sz="1200" err="1">
                <a:latin typeface="Arial" panose="020B0604020202020204" pitchFamily="34" charset="0"/>
                <a:cs typeface="Arial" panose="020B0604020202020204" pitchFamily="34" charset="0"/>
              </a:rPr>
              <a:t>primeros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índices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efectivos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ya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que</a:t>
            </a:r>
            <a:r>
              <a:rPr lang="en-US" sz="1200">
                <a:latin typeface="Arial" panose="020B0604020202020204" pitchFamily="34" charset="0"/>
                <a:cs typeface="Arial" panose="020B0604020202020204" pitchFamily="34" charset="0"/>
              </a:rPr>
              <a:t> son </a:t>
            </a:r>
            <a:r>
              <a:rPr lang="en-US" sz="1200" err="1">
                <a:latin typeface="Arial" panose="020B0604020202020204" pitchFamily="34" charset="0"/>
                <a:cs typeface="Arial" panose="020B0604020202020204" pitchFamily="34" charset="0"/>
              </a:rPr>
              <a:t>los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únicos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que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están</a:t>
            </a:r>
            <a:r>
              <a:rPr lang="en-US" sz="1200">
                <a:latin typeface="Arial" panose="020B0604020202020204" pitchFamily="34" charset="0"/>
                <a:cs typeface="Arial" panose="020B0604020202020204" pitchFamily="34" charset="0"/>
              </a:rPr>
              <a:t> entre n1 y n2 (1,457 – 2), </a:t>
            </a:r>
            <a:r>
              <a:rPr lang="en-US" sz="1200" err="1">
                <a:latin typeface="Arial" panose="020B0604020202020204" pitchFamily="34" charset="0"/>
                <a:cs typeface="Arial" panose="020B0604020202020204" pitchFamily="34" charset="0"/>
              </a:rPr>
              <a:t>que</a:t>
            </a:r>
            <a:r>
              <a:rPr lang="en-US" sz="1200">
                <a:latin typeface="Arial" panose="020B0604020202020204" pitchFamily="34" charset="0"/>
                <a:cs typeface="Arial" panose="020B0604020202020204" pitchFamily="34" charset="0"/>
              </a:rPr>
              <a:t> es </a:t>
            </a:r>
            <a:r>
              <a:rPr lang="en-US" sz="1200" err="1">
                <a:latin typeface="Arial" panose="020B0604020202020204" pitchFamily="34" charset="0"/>
                <a:cs typeface="Arial" panose="020B0604020202020204" pitchFamily="34" charset="0"/>
              </a:rPr>
              <a:t>el</a:t>
            </a:r>
            <a:r>
              <a:rPr lang="en-US" sz="1200">
                <a:latin typeface="Arial" panose="020B0604020202020204" pitchFamily="34" charset="0"/>
                <a:cs typeface="Arial" panose="020B0604020202020204" pitchFamily="34" charset="0"/>
              </a:rPr>
              <a:t> valor de </a:t>
            </a:r>
            <a:r>
              <a:rPr lang="en-US" sz="1200" err="1">
                <a:latin typeface="Arial" panose="020B0604020202020204" pitchFamily="34" charset="0"/>
                <a:cs typeface="Arial" panose="020B0604020202020204" pitchFamily="34" charset="0"/>
              </a:rPr>
              <a:t>núcleo</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mientras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que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los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otros</a:t>
            </a:r>
            <a:r>
              <a:rPr lang="en-US" sz="1200">
                <a:latin typeface="Arial" panose="020B0604020202020204" pitchFamily="34" charset="0"/>
                <a:cs typeface="Arial" panose="020B0604020202020204" pitchFamily="34" charset="0"/>
              </a:rPr>
              <a:t> dos se </a:t>
            </a:r>
            <a:r>
              <a:rPr lang="en-US" sz="1200" err="1">
                <a:latin typeface="Arial" panose="020B0604020202020204" pitchFamily="34" charset="0"/>
                <a:cs typeface="Arial" panose="020B0604020202020204" pitchFamily="34" charset="0"/>
              </a:rPr>
              <a:t>propagan</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por</a:t>
            </a:r>
            <a:r>
              <a:rPr lang="en-US" sz="1200">
                <a:latin typeface="Arial" panose="020B0604020202020204" pitchFamily="34" charset="0"/>
                <a:cs typeface="Arial" panose="020B0604020202020204" pitchFamily="34" charset="0"/>
              </a:rPr>
              <a:t> la </a:t>
            </a:r>
            <a:r>
              <a:rPr lang="en-US" sz="1200" err="1">
                <a:latin typeface="Arial" panose="020B0604020202020204" pitchFamily="34" charset="0"/>
                <a:cs typeface="Arial" panose="020B0604020202020204" pitchFamily="34" charset="0"/>
              </a:rPr>
              <a:t>cubierta</a:t>
            </a:r>
            <a:r>
              <a:rPr lang="en-US" sz="1200">
                <a:latin typeface="Arial" panose="020B0604020202020204" pitchFamily="34" charset="0"/>
                <a:cs typeface="Arial" panose="020B0604020202020204" pitchFamily="34" charset="0"/>
              </a:rPr>
              <a:t>.</a:t>
            </a:r>
          </a:p>
          <a:p>
            <a:pPr marL="171450" indent="-171450" algn="just">
              <a:buFont typeface="Arial" panose="020B0604020202020204" pitchFamily="34" charset="0"/>
              <a:buChar char="•"/>
            </a:pPr>
            <a:endParaRPr lang="en-US" sz="1200">
              <a:latin typeface="Arial" panose="020B0604020202020204" pitchFamily="34" charset="0"/>
              <a:cs typeface="Arial" panose="020B0604020202020204" pitchFamily="34" charset="0"/>
            </a:endParaRPr>
          </a:p>
          <a:p>
            <a:pPr marL="171450" indent="-171450" algn="just">
              <a:buFont typeface="Arial" panose="020B0604020202020204" pitchFamily="34" charset="0"/>
              <a:buChar char="•"/>
            </a:pPr>
            <a:endParaRPr lang="en-US" sz="1200">
              <a:latin typeface="Arial" panose="020B0604020202020204" pitchFamily="34" charset="0"/>
              <a:cs typeface="Arial" panose="020B0604020202020204" pitchFamily="34" charset="0"/>
            </a:endParaRPr>
          </a:p>
          <a:p>
            <a:pPr marL="171450" indent="-171450" algn="just">
              <a:buFont typeface="Arial" panose="020B0604020202020204" pitchFamily="34" charset="0"/>
              <a:buChar char="•"/>
            </a:pPr>
            <a:endParaRPr lang="en-US" sz="1200">
              <a:latin typeface="Arial" panose="020B0604020202020204" pitchFamily="34" charset="0"/>
              <a:cs typeface="Arial" panose="020B0604020202020204" pitchFamily="34" charset="0"/>
            </a:endParaRPr>
          </a:p>
          <a:p>
            <a:pPr marL="171450" indent="-171450" algn="just">
              <a:buFont typeface="Arial" panose="020B0604020202020204" pitchFamily="34" charset="0"/>
              <a:buChar char="•"/>
            </a:pPr>
            <a:endParaRPr lang="en-US" sz="1200">
              <a:latin typeface="Arial" panose="020B0604020202020204" pitchFamily="34" charset="0"/>
              <a:cs typeface="Arial" panose="020B0604020202020204" pitchFamily="34" charset="0"/>
            </a:endParaRPr>
          </a:p>
          <a:p>
            <a:pPr marL="171450" indent="-171450" algn="just">
              <a:buFont typeface="Arial" panose="020B0604020202020204" pitchFamily="34" charset="0"/>
              <a:buChar char="•"/>
            </a:pPr>
            <a:endParaRPr lang="en-US" sz="1200">
              <a:latin typeface="Arial" panose="020B0604020202020204" pitchFamily="34" charset="0"/>
              <a:cs typeface="Arial" panose="020B0604020202020204" pitchFamily="34" charset="0"/>
            </a:endParaRPr>
          </a:p>
          <a:p>
            <a:pPr marL="171450" indent="-171450" algn="just">
              <a:buFont typeface="Arial" panose="020B0604020202020204" pitchFamily="34" charset="0"/>
              <a:buChar char="•"/>
            </a:pPr>
            <a:r>
              <a:rPr lang="en-US" sz="1200" b="1" err="1">
                <a:latin typeface="Arial" panose="020B0604020202020204" pitchFamily="34" charset="0"/>
                <a:cs typeface="Arial" panose="020B0604020202020204" pitchFamily="34" charset="0"/>
              </a:rPr>
              <a:t>te</a:t>
            </a:r>
            <a:r>
              <a:rPr lang="en-US" sz="1200">
                <a:latin typeface="Arial" panose="020B0604020202020204" pitchFamily="34" charset="0"/>
                <a:cs typeface="Arial" panose="020B0604020202020204" pitchFamily="34" charset="0"/>
              </a:rPr>
              <a:t> (campo transversal </a:t>
            </a:r>
            <a:r>
              <a:rPr lang="en-US" sz="1200" err="1">
                <a:latin typeface="Arial" panose="020B0604020202020204" pitchFamily="34" charset="0"/>
                <a:cs typeface="Arial" panose="020B0604020202020204" pitchFamily="34" charset="0"/>
              </a:rPr>
              <a:t>eléctrico</a:t>
            </a:r>
            <a:r>
              <a:rPr lang="en-US" sz="1200">
                <a:latin typeface="Arial" panose="020B0604020202020204" pitchFamily="34" charset="0"/>
                <a:cs typeface="Arial" panose="020B0604020202020204" pitchFamily="34" charset="0"/>
              </a:rPr>
              <a:t>) y </a:t>
            </a:r>
            <a:r>
              <a:rPr lang="en-US" sz="1200" b="1">
                <a:latin typeface="Arial" panose="020B0604020202020204" pitchFamily="34" charset="0"/>
                <a:cs typeface="Arial" panose="020B0604020202020204" pitchFamily="34" charset="0"/>
              </a:rPr>
              <a:t>tm</a:t>
            </a:r>
            <a:r>
              <a:rPr lang="en-US" sz="1200">
                <a:latin typeface="Arial" panose="020B0604020202020204" pitchFamily="34" charset="0"/>
                <a:cs typeface="Arial" panose="020B0604020202020204" pitchFamily="34" charset="0"/>
              </a:rPr>
              <a:t> (campo transversal </a:t>
            </a:r>
            <a:r>
              <a:rPr lang="en-US" sz="1200" err="1">
                <a:latin typeface="Arial" panose="020B0604020202020204" pitchFamily="34" charset="0"/>
                <a:cs typeface="Arial" panose="020B0604020202020204" pitchFamily="34" charset="0"/>
              </a:rPr>
              <a:t>magnético</a:t>
            </a:r>
            <a:r>
              <a:rPr lang="en-US" sz="1200">
                <a:latin typeface="Arial" panose="020B0604020202020204" pitchFamily="34" charset="0"/>
                <a:cs typeface="Arial" panose="020B0604020202020204" pitchFamily="34" charset="0"/>
              </a:rPr>
              <a:t>): Con </a:t>
            </a:r>
            <a:r>
              <a:rPr lang="en-US" sz="1200" err="1">
                <a:latin typeface="Arial" panose="020B0604020202020204" pitchFamily="34" charset="0"/>
                <a:cs typeface="Arial" panose="020B0604020202020204" pitchFamily="34" charset="0"/>
              </a:rPr>
              <a:t>los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valores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númericos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obtenidos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podemos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ver</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que</a:t>
            </a:r>
            <a:r>
              <a:rPr lang="en-US" sz="1200">
                <a:latin typeface="Arial" panose="020B0604020202020204" pitchFamily="34" charset="0"/>
                <a:cs typeface="Arial" panose="020B0604020202020204" pitchFamily="34" charset="0"/>
              </a:rPr>
              <a:t> son </a:t>
            </a:r>
            <a:r>
              <a:rPr lang="en-US" sz="1200" err="1">
                <a:latin typeface="Arial" panose="020B0604020202020204" pitchFamily="34" charset="0"/>
                <a:cs typeface="Arial" panose="020B0604020202020204" pitchFamily="34" charset="0"/>
              </a:rPr>
              <a:t>alternos</a:t>
            </a:r>
            <a:r>
              <a:rPr lang="en-US" sz="1200">
                <a:latin typeface="Arial" panose="020B0604020202020204" pitchFamily="34" charset="0"/>
                <a:cs typeface="Arial" panose="020B0604020202020204" pitchFamily="34" charset="0"/>
              </a:rPr>
              <a:t>, es </a:t>
            </a:r>
            <a:r>
              <a:rPr lang="en-US" sz="1200" err="1">
                <a:latin typeface="Arial" panose="020B0604020202020204" pitchFamily="34" charset="0"/>
                <a:cs typeface="Arial" panose="020B0604020202020204" pitchFamily="34" charset="0"/>
              </a:rPr>
              <a:t>decir</a:t>
            </a:r>
            <a:r>
              <a:rPr lang="en-US" sz="1200">
                <a:latin typeface="Arial" panose="020B0604020202020204" pitchFamily="34" charset="0"/>
                <a:cs typeface="Arial" panose="020B0604020202020204" pitchFamily="34" charset="0"/>
              </a:rPr>
              <a:t>, primero </a:t>
            </a:r>
            <a:r>
              <a:rPr lang="en-US" sz="1200" err="1">
                <a:latin typeface="Arial" panose="020B0604020202020204" pitchFamily="34" charset="0"/>
                <a:cs typeface="Arial" panose="020B0604020202020204" pitchFamily="34" charset="0"/>
              </a:rPr>
              <a:t>te</a:t>
            </a:r>
            <a:r>
              <a:rPr lang="en-US" sz="1200">
                <a:latin typeface="Arial" panose="020B0604020202020204" pitchFamily="34" charset="0"/>
                <a:cs typeface="Arial" panose="020B0604020202020204" pitchFamily="34" charset="0"/>
              </a:rPr>
              <a:t> y luego tm. De </a:t>
            </a:r>
            <a:r>
              <a:rPr lang="en-US" sz="1200" err="1">
                <a:latin typeface="Arial" panose="020B0604020202020204" pitchFamily="34" charset="0"/>
                <a:cs typeface="Arial" panose="020B0604020202020204" pitchFamily="34" charset="0"/>
              </a:rPr>
              <a:t>los</a:t>
            </a:r>
            <a:r>
              <a:rPr lang="en-US" sz="1200">
                <a:latin typeface="Arial" panose="020B0604020202020204" pitchFamily="34" charset="0"/>
                <a:cs typeface="Arial" panose="020B0604020202020204" pitchFamily="34" charset="0"/>
              </a:rPr>
              <a:t> 4 </a:t>
            </a:r>
            <a:r>
              <a:rPr lang="en-US" sz="1200" err="1">
                <a:latin typeface="Arial" panose="020B0604020202020204" pitchFamily="34" charset="0"/>
                <a:cs typeface="Arial" panose="020B0604020202020204" pitchFamily="34" charset="0"/>
              </a:rPr>
              <a:t>modos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como</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hemos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explicado</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anteriormente</a:t>
            </a:r>
            <a:r>
              <a:rPr lang="en-US" sz="1200">
                <a:latin typeface="Arial" panose="020B0604020202020204" pitchFamily="34" charset="0"/>
                <a:cs typeface="Arial" panose="020B0604020202020204" pitchFamily="34" charset="0"/>
              </a:rPr>
              <a:t>, solo se </a:t>
            </a:r>
            <a:r>
              <a:rPr lang="en-US" sz="1200" err="1">
                <a:latin typeface="Arial" panose="020B0604020202020204" pitchFamily="34" charset="0"/>
                <a:cs typeface="Arial" panose="020B0604020202020204" pitchFamily="34" charset="0"/>
              </a:rPr>
              <a:t>propagan</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los</a:t>
            </a:r>
            <a:r>
              <a:rPr lang="en-US" sz="1200">
                <a:latin typeface="Arial" panose="020B0604020202020204" pitchFamily="34" charset="0"/>
                <a:cs typeface="Arial" panose="020B0604020202020204" pitchFamily="34" charset="0"/>
              </a:rPr>
              <a:t> dos </a:t>
            </a:r>
            <a:r>
              <a:rPr lang="en-US" sz="1200" err="1">
                <a:latin typeface="Arial" panose="020B0604020202020204" pitchFamily="34" charset="0"/>
                <a:cs typeface="Arial" panose="020B0604020202020204" pitchFamily="34" charset="0"/>
              </a:rPr>
              <a:t>primeros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siendo</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el</a:t>
            </a:r>
            <a:r>
              <a:rPr lang="en-US" sz="1200">
                <a:latin typeface="Arial" panose="020B0604020202020204" pitchFamily="34" charset="0"/>
                <a:cs typeface="Arial" panose="020B0604020202020204" pitchFamily="34" charset="0"/>
              </a:rPr>
              <a:t> primero 99,5% </a:t>
            </a:r>
            <a:r>
              <a:rPr lang="en-US" sz="1200" err="1">
                <a:latin typeface="Arial" panose="020B0604020202020204" pitchFamily="34" charset="0"/>
                <a:cs typeface="Arial" panose="020B0604020202020204" pitchFamily="34" charset="0"/>
              </a:rPr>
              <a:t>te</a:t>
            </a:r>
            <a:r>
              <a:rPr lang="en-US" sz="1200">
                <a:latin typeface="Arial" panose="020B0604020202020204" pitchFamily="34" charset="0"/>
                <a:cs typeface="Arial" panose="020B0604020202020204" pitchFamily="34" charset="0"/>
              </a:rPr>
              <a:t> y </a:t>
            </a:r>
            <a:r>
              <a:rPr lang="en-US" sz="1200" err="1">
                <a:latin typeface="Arial" panose="020B0604020202020204" pitchFamily="34" charset="0"/>
                <a:cs typeface="Arial" panose="020B0604020202020204" pitchFamily="34" charset="0"/>
              </a:rPr>
              <a:t>el</a:t>
            </a:r>
            <a:r>
              <a:rPr lang="en-US" sz="1200">
                <a:latin typeface="Arial" panose="020B0604020202020204" pitchFamily="34" charset="0"/>
                <a:cs typeface="Arial" panose="020B0604020202020204" pitchFamily="34" charset="0"/>
              </a:rPr>
              <a:t> Segundo 98,99% tm. </a:t>
            </a:r>
          </a:p>
          <a:p>
            <a:pPr marL="171450" indent="-171450" algn="just">
              <a:buFont typeface="Arial" panose="020B0604020202020204" pitchFamily="34" charset="0"/>
              <a:buChar char="•"/>
            </a:pPr>
            <a:endParaRPr lang="en-US" sz="1200">
              <a:latin typeface="Arial" panose="020B0604020202020204" pitchFamily="34" charset="0"/>
              <a:cs typeface="Arial" panose="020B0604020202020204" pitchFamily="34" charset="0"/>
            </a:endParaRPr>
          </a:p>
          <a:p>
            <a:pPr marL="171450" indent="-171450" algn="just">
              <a:buFont typeface="Arial" panose="020B0604020202020204" pitchFamily="34" charset="0"/>
              <a:buChar char="•"/>
            </a:pPr>
            <a:endParaRPr lang="en-US" sz="1200">
              <a:latin typeface="Arial" panose="020B0604020202020204" pitchFamily="34" charset="0"/>
              <a:cs typeface="Arial" panose="020B0604020202020204" pitchFamily="34" charset="0"/>
            </a:endParaRPr>
          </a:p>
          <a:p>
            <a:pPr marL="171450" indent="-171450" algn="just">
              <a:buFont typeface="Arial" panose="020B0604020202020204" pitchFamily="34" charset="0"/>
              <a:buChar char="•"/>
            </a:pPr>
            <a:endParaRPr lang="en-US" sz="1200">
              <a:latin typeface="Arial" panose="020B0604020202020204" pitchFamily="34" charset="0"/>
              <a:cs typeface="Arial" panose="020B0604020202020204" pitchFamily="34" charset="0"/>
            </a:endParaRPr>
          </a:p>
          <a:p>
            <a:pPr marL="171450" indent="-171450" algn="just">
              <a:buFont typeface="Arial" panose="020B0604020202020204" pitchFamily="34" charset="0"/>
              <a:buChar char="•"/>
            </a:pPr>
            <a:endParaRPr lang="en-US" sz="1200">
              <a:latin typeface="Arial" panose="020B0604020202020204" pitchFamily="34" charset="0"/>
              <a:cs typeface="Arial" panose="020B0604020202020204" pitchFamily="34" charset="0"/>
            </a:endParaRPr>
          </a:p>
          <a:p>
            <a:pPr marL="171450" indent="-171450" algn="just">
              <a:buFont typeface="Arial" panose="020B0604020202020204" pitchFamily="34" charset="0"/>
              <a:buChar char="•"/>
            </a:pPr>
            <a:endParaRPr lang="en-US" sz="1200">
              <a:latin typeface="Arial" panose="020B0604020202020204" pitchFamily="34" charset="0"/>
              <a:cs typeface="Arial" panose="020B0604020202020204" pitchFamily="34" charset="0"/>
            </a:endParaRPr>
          </a:p>
          <a:p>
            <a:pPr marL="171450" indent="-171450" algn="just">
              <a:buFont typeface="Arial" panose="020B0604020202020204" pitchFamily="34" charset="0"/>
              <a:buChar char="•"/>
            </a:pPr>
            <a:endParaRPr lang="en-US" sz="1200">
              <a:latin typeface="Arial" panose="020B0604020202020204" pitchFamily="34" charset="0"/>
              <a:cs typeface="Arial" panose="020B0604020202020204" pitchFamily="34" charset="0"/>
            </a:endParaRPr>
          </a:p>
          <a:p>
            <a:pPr marL="171450" indent="-171450" algn="just">
              <a:buFont typeface="Arial" panose="020B0604020202020204" pitchFamily="34" charset="0"/>
              <a:buChar char="•"/>
            </a:pPr>
            <a:endParaRPr lang="en-US" sz="1200">
              <a:latin typeface="Arial" panose="020B0604020202020204" pitchFamily="34" charset="0"/>
              <a:cs typeface="Arial" panose="020B0604020202020204" pitchFamily="34" charset="0"/>
            </a:endParaRPr>
          </a:p>
          <a:p>
            <a:pPr marL="171450" indent="-171450" algn="just">
              <a:buFont typeface="Arial" panose="020B0604020202020204" pitchFamily="34" charset="0"/>
              <a:buChar char="•"/>
            </a:pPr>
            <a:endParaRPr lang="en-US" sz="1200">
              <a:latin typeface="Arial" panose="020B0604020202020204" pitchFamily="34" charset="0"/>
              <a:cs typeface="Arial" panose="020B0604020202020204" pitchFamily="34" charset="0"/>
            </a:endParaRPr>
          </a:p>
          <a:p>
            <a:pPr marL="171450" indent="-171450" algn="just">
              <a:buFont typeface="Arial" panose="020B0604020202020204" pitchFamily="34" charset="0"/>
              <a:buChar char="•"/>
            </a:pPr>
            <a:endParaRPr lang="en-US" sz="1200">
              <a:latin typeface="Arial" panose="020B0604020202020204" pitchFamily="34" charset="0"/>
              <a:cs typeface="Arial" panose="020B0604020202020204" pitchFamily="34" charset="0"/>
            </a:endParaRPr>
          </a:p>
        </p:txBody>
      </p:sp>
      <p:pic>
        <p:nvPicPr>
          <p:cNvPr id="6" name="Imagen 5">
            <a:extLst>
              <a:ext uri="{FF2B5EF4-FFF2-40B4-BE49-F238E27FC236}">
                <a16:creationId xmlns:a16="http://schemas.microsoft.com/office/drawing/2014/main" id="{04516977-851E-ABA9-1887-8E53E012F111}"/>
              </a:ext>
            </a:extLst>
          </p:cNvPr>
          <p:cNvPicPr>
            <a:picLocks noChangeAspect="1"/>
          </p:cNvPicPr>
          <p:nvPr/>
        </p:nvPicPr>
        <p:blipFill>
          <a:blip r:embed="rId5"/>
          <a:stretch>
            <a:fillRect/>
          </a:stretch>
        </p:blipFill>
        <p:spPr>
          <a:xfrm>
            <a:off x="3509601" y="2133600"/>
            <a:ext cx="5172797" cy="543001"/>
          </a:xfrm>
          <a:prstGeom prst="rect">
            <a:avLst/>
          </a:prstGeom>
        </p:spPr>
      </p:pic>
      <p:pic>
        <p:nvPicPr>
          <p:cNvPr id="8" name="Imagen 7" descr="Interfaz de usuario gráfica, Aplicación&#10;&#10;El contenido generado por IA puede ser incorrecto.">
            <a:extLst>
              <a:ext uri="{FF2B5EF4-FFF2-40B4-BE49-F238E27FC236}">
                <a16:creationId xmlns:a16="http://schemas.microsoft.com/office/drawing/2014/main" id="{7625521F-47A8-C185-CE42-7A3A175F97A0}"/>
              </a:ext>
            </a:extLst>
          </p:cNvPr>
          <p:cNvPicPr>
            <a:picLocks noChangeAspect="1"/>
          </p:cNvPicPr>
          <p:nvPr/>
        </p:nvPicPr>
        <p:blipFill>
          <a:blip r:embed="rId6"/>
          <a:stretch>
            <a:fillRect/>
          </a:stretch>
        </p:blipFill>
        <p:spPr>
          <a:xfrm>
            <a:off x="1295401" y="3616763"/>
            <a:ext cx="4191000" cy="869410"/>
          </a:xfrm>
          <a:prstGeom prst="rect">
            <a:avLst/>
          </a:prstGeom>
        </p:spPr>
      </p:pic>
      <p:pic>
        <p:nvPicPr>
          <p:cNvPr id="10" name="Imagen 9" descr="Interfaz de usuario gráfica, Texto&#10;&#10;El contenido generado por IA puede ser incorrecto.">
            <a:extLst>
              <a:ext uri="{FF2B5EF4-FFF2-40B4-BE49-F238E27FC236}">
                <a16:creationId xmlns:a16="http://schemas.microsoft.com/office/drawing/2014/main" id="{5867E13F-7704-D606-374E-CC33FA1905E3}"/>
              </a:ext>
            </a:extLst>
          </p:cNvPr>
          <p:cNvPicPr>
            <a:picLocks noChangeAspect="1"/>
          </p:cNvPicPr>
          <p:nvPr/>
        </p:nvPicPr>
        <p:blipFill>
          <a:blip r:embed="rId7"/>
          <a:stretch>
            <a:fillRect/>
          </a:stretch>
        </p:blipFill>
        <p:spPr>
          <a:xfrm>
            <a:off x="6705601" y="3616763"/>
            <a:ext cx="4114800" cy="887067"/>
          </a:xfrm>
          <a:prstGeom prst="rect">
            <a:avLst/>
          </a:prstGeom>
        </p:spPr>
      </p:pic>
    </p:spTree>
    <p:extLst>
      <p:ext uri="{BB962C8B-B14F-4D97-AF65-F5344CB8AC3E}">
        <p14:creationId xmlns:p14="http://schemas.microsoft.com/office/powerpoint/2010/main" val="14879447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F9236-E678-2805-6368-1EA03C937CD5}"/>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9DC059C-5B3D-ECFC-2093-720CFF85CADB}"/>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#1 – Effective index of a waveguide</a:t>
            </a: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28421974-0DDC-C6EF-F6DF-67B8E6880DA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B9735F4-70D4-B2AB-6996-65C89AAB2B5F}"/>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3C9CBF67-8641-7BD8-1F31-B7B0DF2AFD9E}"/>
              </a:ext>
            </a:extLst>
          </p:cNvPr>
          <p:cNvSpPr>
            <a:spLocks noGrp="1"/>
          </p:cNvSpPr>
          <p:nvPr>
            <p:ph type="ftr" sz="quarter" idx="5"/>
          </p:nvPr>
        </p:nvSpPr>
        <p:spPr/>
        <p:txBody>
          <a:bodyPr/>
          <a:lstStyle/>
          <a:p>
            <a:pPr marL="12700">
              <a:spcBef>
                <a:spcPts val="15"/>
              </a:spcBef>
            </a:pPr>
            <a:r>
              <a:rPr lang="es-ES" spc="-5"/>
              <a:t>LAB 1.0 WAVEGUIDES</a:t>
            </a:r>
          </a:p>
        </p:txBody>
      </p:sp>
      <p:sp>
        <p:nvSpPr>
          <p:cNvPr id="4" name="Marcador de texto 2">
            <a:extLst>
              <a:ext uri="{FF2B5EF4-FFF2-40B4-BE49-F238E27FC236}">
                <a16:creationId xmlns:a16="http://schemas.microsoft.com/office/drawing/2014/main" id="{AA376C40-3754-E43C-FE33-99D27A11D856}"/>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endParaRPr lang="en-US" sz="2000" b="1" i="1"/>
          </a:p>
          <a:p>
            <a:pPr algn="just"/>
            <a:endParaRPr lang="en-US" sz="2000" kern="0">
              <a:solidFill>
                <a:sysClr val="windowText" lastClr="000000"/>
              </a:solidFill>
            </a:endParaRPr>
          </a:p>
        </p:txBody>
      </p:sp>
      <p:sp>
        <p:nvSpPr>
          <p:cNvPr id="2" name="CuadroTexto 1">
            <a:extLst>
              <a:ext uri="{FF2B5EF4-FFF2-40B4-BE49-F238E27FC236}">
                <a16:creationId xmlns:a16="http://schemas.microsoft.com/office/drawing/2014/main" id="{A4B0FB21-A9E2-7D61-3762-B8220BEE8FFC}"/>
              </a:ext>
            </a:extLst>
          </p:cNvPr>
          <p:cNvSpPr txBox="1"/>
          <p:nvPr/>
        </p:nvSpPr>
        <p:spPr>
          <a:xfrm>
            <a:off x="1301716" y="5149571"/>
            <a:ext cx="4565684" cy="646331"/>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Se </a:t>
            </a:r>
            <a:r>
              <a:rPr lang="en-US" sz="1200" err="1">
                <a:latin typeface="Arial" panose="020B0604020202020204" pitchFamily="34" charset="0"/>
                <a:cs typeface="Arial" panose="020B0604020202020204" pitchFamily="34" charset="0"/>
              </a:rPr>
              <a:t>observa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que</a:t>
            </a:r>
            <a:r>
              <a:rPr lang="en-US" sz="1200">
                <a:latin typeface="Arial" panose="020B0604020202020204" pitchFamily="34" charset="0"/>
                <a:cs typeface="Arial" panose="020B0604020202020204" pitchFamily="34" charset="0"/>
              </a:rPr>
              <a:t> es </a:t>
            </a:r>
            <a:r>
              <a:rPr lang="en-US" sz="1200" err="1">
                <a:latin typeface="Arial" panose="020B0604020202020204" pitchFamily="34" charset="0"/>
                <a:cs typeface="Arial" panose="020B0604020202020204" pitchFamily="34" charset="0"/>
              </a:rPr>
              <a:t>el</a:t>
            </a:r>
            <a:r>
              <a:rPr lang="en-US" sz="1200">
                <a:latin typeface="Arial" panose="020B0604020202020204" pitchFamily="34" charset="0"/>
                <a:cs typeface="Arial" panose="020B0604020202020204" pitchFamily="34" charset="0"/>
              </a:rPr>
              <a:t> modo </a:t>
            </a:r>
            <a:r>
              <a:rPr lang="en-US" sz="1200" err="1">
                <a:latin typeface="Arial" panose="020B0604020202020204" pitchFamily="34" charset="0"/>
                <a:cs typeface="Arial" panose="020B0604020202020204" pitchFamily="34" charset="0"/>
              </a:rPr>
              <a:t>te</a:t>
            </a:r>
            <a:r>
              <a:rPr lang="en-US" sz="1200">
                <a:latin typeface="Arial" panose="020B0604020202020204" pitchFamily="34" charset="0"/>
                <a:cs typeface="Arial" panose="020B0604020202020204" pitchFamily="34" charset="0"/>
              </a:rPr>
              <a:t> y </a:t>
            </a:r>
            <a:r>
              <a:rPr lang="en-US" sz="1200" err="1">
                <a:latin typeface="Arial" panose="020B0604020202020204" pitchFamily="34" charset="0"/>
                <a:cs typeface="Arial" panose="020B0604020202020204" pitchFamily="34" charset="0"/>
              </a:rPr>
              <a:t>que</a:t>
            </a:r>
            <a:r>
              <a:rPr lang="en-US" sz="1200">
                <a:latin typeface="Arial" panose="020B0604020202020204" pitchFamily="34" charset="0"/>
                <a:cs typeface="Arial" panose="020B0604020202020204" pitchFamily="34" charset="0"/>
              </a:rPr>
              <a:t> se </a:t>
            </a:r>
            <a:r>
              <a:rPr lang="en-US" sz="1200" err="1">
                <a:latin typeface="Arial" panose="020B0604020202020204" pitchFamily="34" charset="0"/>
                <a:cs typeface="Arial" panose="020B0604020202020204" pitchFamily="34" charset="0"/>
              </a:rPr>
              <a:t>propaga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en</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el</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eje</a:t>
            </a:r>
            <a:r>
              <a:rPr lang="en-US" sz="1200">
                <a:latin typeface="Arial" panose="020B0604020202020204" pitchFamily="34" charset="0"/>
                <a:cs typeface="Arial" panose="020B0604020202020204" pitchFamily="34" charset="0"/>
              </a:rPr>
              <a:t> x </a:t>
            </a:r>
            <a:r>
              <a:rPr lang="en-US" sz="1200" err="1">
                <a:latin typeface="Arial" panose="020B0604020202020204" pitchFamily="34" charset="0"/>
                <a:cs typeface="Arial" panose="020B0604020202020204" pitchFamily="34" charset="0"/>
              </a:rPr>
              <a:t>donde</a:t>
            </a:r>
            <a:r>
              <a:rPr lang="en-US" sz="1200">
                <a:latin typeface="Arial" panose="020B0604020202020204" pitchFamily="34" charset="0"/>
                <a:cs typeface="Arial" panose="020B0604020202020204" pitchFamily="34" charset="0"/>
              </a:rPr>
              <a:t> se </a:t>
            </a:r>
            <a:r>
              <a:rPr lang="en-US" sz="1200" err="1">
                <a:latin typeface="Arial" panose="020B0604020202020204" pitchFamily="34" charset="0"/>
                <a:cs typeface="Arial" panose="020B0604020202020204" pitchFamily="34" charset="0"/>
              </a:rPr>
              <a:t>observa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que</a:t>
            </a:r>
            <a:r>
              <a:rPr lang="en-US" sz="1200">
                <a:latin typeface="Arial" panose="020B0604020202020204" pitchFamily="34" charset="0"/>
                <a:cs typeface="Arial" panose="020B0604020202020204" pitchFamily="34" charset="0"/>
              </a:rPr>
              <a:t> hay </a:t>
            </a:r>
            <a:r>
              <a:rPr lang="en-US" sz="1200" err="1">
                <a:latin typeface="Arial" panose="020B0604020202020204" pitchFamily="34" charset="0"/>
                <a:cs typeface="Arial" panose="020B0604020202020204" pitchFamily="34" charset="0"/>
              </a:rPr>
              <a:t>interaccion</a:t>
            </a:r>
            <a:r>
              <a:rPr lang="en-US" sz="1200">
                <a:latin typeface="Arial" panose="020B0604020202020204" pitchFamily="34" charset="0"/>
                <a:cs typeface="Arial" panose="020B0604020202020204" pitchFamily="34" charset="0"/>
              </a:rPr>
              <a:t> con las </a:t>
            </a:r>
            <a:r>
              <a:rPr lang="en-US" sz="1200" err="1">
                <a:latin typeface="Arial" panose="020B0604020202020204" pitchFamily="34" charset="0"/>
                <a:cs typeface="Arial" panose="020B0604020202020204" pitchFamily="34" charset="0"/>
              </a:rPr>
              <a:t>paredes</a:t>
            </a:r>
            <a:endParaRPr lang="en-US" sz="1200">
              <a:latin typeface="Arial" panose="020B0604020202020204" pitchFamily="34" charset="0"/>
              <a:cs typeface="Arial" panose="020B0604020202020204" pitchFamily="34" charset="0"/>
            </a:endParaRPr>
          </a:p>
          <a:p>
            <a:pPr marL="628650" lvl="1" indent="-171450" algn="just">
              <a:buFont typeface="Arial" panose="020B0604020202020204" pitchFamily="34" charset="0"/>
              <a:buChar char="•"/>
            </a:pPr>
            <a:endParaRPr lang="en-US" sz="1200">
              <a:latin typeface="Arial" panose="020B0604020202020204" pitchFamily="34" charset="0"/>
              <a:cs typeface="Arial" panose="020B0604020202020204" pitchFamily="34" charset="0"/>
            </a:endParaRPr>
          </a:p>
        </p:txBody>
      </p:sp>
      <p:pic>
        <p:nvPicPr>
          <p:cNvPr id="7" name="Imagen 6" descr="Gráfico&#10;&#10;El contenido generado por IA puede ser incorrecto.">
            <a:extLst>
              <a:ext uri="{FF2B5EF4-FFF2-40B4-BE49-F238E27FC236}">
                <a16:creationId xmlns:a16="http://schemas.microsoft.com/office/drawing/2014/main" id="{3B1729B0-8528-91FA-8D4E-AB5064FD6DF2}"/>
              </a:ext>
            </a:extLst>
          </p:cNvPr>
          <p:cNvPicPr>
            <a:picLocks noChangeAspect="1"/>
          </p:cNvPicPr>
          <p:nvPr/>
        </p:nvPicPr>
        <p:blipFill>
          <a:blip r:embed="rId5"/>
          <a:stretch>
            <a:fillRect/>
          </a:stretch>
        </p:blipFill>
        <p:spPr>
          <a:xfrm>
            <a:off x="970195" y="1894952"/>
            <a:ext cx="4814909" cy="3240484"/>
          </a:xfrm>
          <a:prstGeom prst="rect">
            <a:avLst/>
          </a:prstGeom>
        </p:spPr>
      </p:pic>
      <p:sp>
        <p:nvSpPr>
          <p:cNvPr id="6" name="CuadroTexto 5">
            <a:extLst>
              <a:ext uri="{FF2B5EF4-FFF2-40B4-BE49-F238E27FC236}">
                <a16:creationId xmlns:a16="http://schemas.microsoft.com/office/drawing/2014/main" id="{0C5F389A-63A9-7D82-B57F-8ADBEECC3181}"/>
              </a:ext>
            </a:extLst>
          </p:cNvPr>
          <p:cNvSpPr txBox="1"/>
          <p:nvPr/>
        </p:nvSpPr>
        <p:spPr>
          <a:xfrm>
            <a:off x="970195" y="1045101"/>
            <a:ext cx="10425619" cy="646331"/>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Document all your results (</a:t>
            </a:r>
            <a:r>
              <a:rPr lang="en-US" sz="1200" err="1">
                <a:latin typeface="Arial" panose="020B0604020202020204" pitchFamily="34" charset="0"/>
                <a:cs typeface="Arial" panose="020B0604020202020204" pitchFamily="34" charset="0"/>
              </a:rPr>
              <a:t>neff</a:t>
            </a:r>
            <a:r>
              <a:rPr lang="en-US" sz="1200">
                <a:latin typeface="Arial" panose="020B0604020202020204" pitchFamily="34" charset="0"/>
                <a:cs typeface="Arial" panose="020B0604020202020204" pitchFamily="34" charset="0"/>
              </a:rPr>
              <a:t>, plot fields of different modes, comparison between different polarizations…)</a:t>
            </a:r>
          </a:p>
          <a:p>
            <a:pPr marL="171450" indent="-171450" algn="just">
              <a:buFont typeface="Arial" panose="020B0604020202020204" pitchFamily="34" charset="0"/>
              <a:buChar char="•"/>
            </a:pPr>
            <a:endParaRPr lang="en-US" sz="1200">
              <a:latin typeface="Arial" panose="020B0604020202020204" pitchFamily="34" charset="0"/>
              <a:cs typeface="Arial" panose="020B0604020202020204" pitchFamily="34" charset="0"/>
            </a:endParaRPr>
          </a:p>
          <a:p>
            <a:pPr marL="171450" indent="-171450" algn="just">
              <a:buFont typeface="Arial" panose="020B0604020202020204" pitchFamily="34" charset="0"/>
              <a:buChar char="•"/>
            </a:pPr>
            <a:r>
              <a:rPr lang="en-US" sz="1200">
                <a:latin typeface="Arial" panose="020B0604020202020204" pitchFamily="34" charset="0"/>
                <a:cs typeface="Arial" panose="020B0604020202020204" pitchFamily="34" charset="0"/>
              </a:rPr>
              <a:t>En las </a:t>
            </a:r>
            <a:r>
              <a:rPr lang="en-US" sz="1200" err="1">
                <a:latin typeface="Arial" panose="020B0604020202020204" pitchFamily="34" charset="0"/>
                <a:cs typeface="Arial" panose="020B0604020202020204" pitchFamily="34" charset="0"/>
              </a:rPr>
              <a:t>gráficas</a:t>
            </a:r>
            <a:r>
              <a:rPr lang="en-US" sz="1200">
                <a:latin typeface="Arial" panose="020B0604020202020204" pitchFamily="34" charset="0"/>
                <a:cs typeface="Arial" panose="020B0604020202020204" pitchFamily="34" charset="0"/>
              </a:rPr>
              <a:t> de la </a:t>
            </a:r>
            <a:r>
              <a:rPr lang="en-US" sz="1200" err="1">
                <a:latin typeface="Arial" panose="020B0604020202020204" pitchFamily="34" charset="0"/>
                <a:cs typeface="Arial" panose="020B0604020202020204" pitchFamily="34" charset="0"/>
              </a:rPr>
              <a:t>polarización</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vemos</a:t>
            </a:r>
            <a:r>
              <a:rPr lang="en-US" sz="1200">
                <a:latin typeface="Arial" panose="020B0604020202020204" pitchFamily="34" charset="0"/>
                <a:cs typeface="Arial" panose="020B0604020202020204" pitchFamily="34" charset="0"/>
              </a:rPr>
              <a:t>:</a:t>
            </a:r>
          </a:p>
        </p:txBody>
      </p:sp>
      <p:pic>
        <p:nvPicPr>
          <p:cNvPr id="9" name="Imagen 8" descr="Gráfico&#10;&#10;El contenido generado por IA puede ser incorrecto.">
            <a:extLst>
              <a:ext uri="{FF2B5EF4-FFF2-40B4-BE49-F238E27FC236}">
                <a16:creationId xmlns:a16="http://schemas.microsoft.com/office/drawing/2014/main" id="{61A1E036-5613-7343-27A0-3F76C63ED6D8}"/>
              </a:ext>
            </a:extLst>
          </p:cNvPr>
          <p:cNvPicPr>
            <a:picLocks noChangeAspect="1"/>
          </p:cNvPicPr>
          <p:nvPr/>
        </p:nvPicPr>
        <p:blipFill>
          <a:blip r:embed="rId6"/>
          <a:stretch>
            <a:fillRect/>
          </a:stretch>
        </p:blipFill>
        <p:spPr>
          <a:xfrm>
            <a:off x="6738695" y="1890878"/>
            <a:ext cx="4657120" cy="3134290"/>
          </a:xfrm>
          <a:prstGeom prst="rect">
            <a:avLst/>
          </a:prstGeom>
        </p:spPr>
      </p:pic>
      <p:sp>
        <p:nvSpPr>
          <p:cNvPr id="8" name="CuadroTexto 7">
            <a:extLst>
              <a:ext uri="{FF2B5EF4-FFF2-40B4-BE49-F238E27FC236}">
                <a16:creationId xmlns:a16="http://schemas.microsoft.com/office/drawing/2014/main" id="{FF12B854-F344-FED8-3D30-0294EF7EE552}"/>
              </a:ext>
            </a:extLst>
          </p:cNvPr>
          <p:cNvSpPr txBox="1"/>
          <p:nvPr/>
        </p:nvSpPr>
        <p:spPr>
          <a:xfrm>
            <a:off x="6778047" y="5149571"/>
            <a:ext cx="4565684" cy="646331"/>
          </a:xfrm>
          <a:prstGeom prst="rect">
            <a:avLst/>
          </a:prstGeom>
          <a:solidFill>
            <a:schemeClr val="bg1">
              <a:lumMod val="95000"/>
            </a:schemeClr>
          </a:solidFill>
          <a:ln w="28575">
            <a:solidFill>
              <a:srgbClr val="E0700D"/>
            </a:solidFill>
          </a:ln>
        </p:spPr>
        <p:txBody>
          <a:bodyPr wrap="square" rtlCol="0">
            <a:spAutoFit/>
          </a:bodyPr>
          <a:lstStyle/>
          <a:p>
            <a:pPr algn="just"/>
            <a:r>
              <a:rPr lang="en-US" sz="1200" err="1">
                <a:latin typeface="Arial" panose="020B0604020202020204" pitchFamily="34" charset="0"/>
                <a:cs typeface="Arial" panose="020B0604020202020204" pitchFamily="34" charset="0"/>
              </a:rPr>
              <a:t>Vemos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que</a:t>
            </a:r>
            <a:r>
              <a:rPr lang="en-US" sz="1200">
                <a:latin typeface="Arial" panose="020B0604020202020204" pitchFamily="34" charset="0"/>
                <a:cs typeface="Arial" panose="020B0604020202020204" pitchFamily="34" charset="0"/>
              </a:rPr>
              <a:t> es </a:t>
            </a:r>
            <a:r>
              <a:rPr lang="en-US" sz="1200" err="1">
                <a:latin typeface="Arial" panose="020B0604020202020204" pitchFamily="34" charset="0"/>
                <a:cs typeface="Arial" panose="020B0604020202020204" pitchFamily="34" charset="0"/>
              </a:rPr>
              <a:t>el</a:t>
            </a:r>
            <a:r>
              <a:rPr lang="en-US" sz="1200">
                <a:latin typeface="Arial" panose="020B0604020202020204" pitchFamily="34" charset="0"/>
                <a:cs typeface="Arial" panose="020B0604020202020204" pitchFamily="34" charset="0"/>
              </a:rPr>
              <a:t> modo tm y </a:t>
            </a:r>
            <a:r>
              <a:rPr lang="en-US" sz="1200" err="1">
                <a:latin typeface="Arial" panose="020B0604020202020204" pitchFamily="34" charset="0"/>
                <a:cs typeface="Arial" panose="020B0604020202020204" pitchFamily="34" charset="0"/>
              </a:rPr>
              <a:t>que</a:t>
            </a:r>
            <a:r>
              <a:rPr lang="en-US" sz="1200">
                <a:latin typeface="Arial" panose="020B0604020202020204" pitchFamily="34" charset="0"/>
                <a:cs typeface="Arial" panose="020B0604020202020204" pitchFamily="34" charset="0"/>
              </a:rPr>
              <a:t> se </a:t>
            </a:r>
            <a:r>
              <a:rPr lang="en-US" sz="1200" err="1">
                <a:latin typeface="Arial" panose="020B0604020202020204" pitchFamily="34" charset="0"/>
                <a:cs typeface="Arial" panose="020B0604020202020204" pitchFamily="34" charset="0"/>
              </a:rPr>
              <a:t>propaga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en</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el</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eje</a:t>
            </a:r>
            <a:r>
              <a:rPr lang="en-US" sz="1200">
                <a:latin typeface="Arial" panose="020B0604020202020204" pitchFamily="34" charset="0"/>
                <a:cs typeface="Arial" panose="020B0604020202020204" pitchFamily="34" charset="0"/>
              </a:rPr>
              <a:t> y </a:t>
            </a:r>
            <a:r>
              <a:rPr lang="en-US" sz="1200" err="1">
                <a:latin typeface="Arial" panose="020B0604020202020204" pitchFamily="34" charset="0"/>
                <a:cs typeface="Arial" panose="020B0604020202020204" pitchFamily="34" charset="0"/>
              </a:rPr>
              <a:t>donde</a:t>
            </a:r>
            <a:r>
              <a:rPr lang="en-US" sz="1200">
                <a:latin typeface="Arial" panose="020B0604020202020204" pitchFamily="34" charset="0"/>
                <a:cs typeface="Arial" panose="020B0604020202020204" pitchFamily="34" charset="0"/>
              </a:rPr>
              <a:t> se </a:t>
            </a:r>
            <a:r>
              <a:rPr lang="en-US" sz="1200" err="1">
                <a:latin typeface="Arial" panose="020B0604020202020204" pitchFamily="34" charset="0"/>
                <a:cs typeface="Arial" panose="020B0604020202020204" pitchFamily="34" charset="0"/>
              </a:rPr>
              <a:t>observa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que</a:t>
            </a:r>
            <a:r>
              <a:rPr lang="en-US" sz="1200">
                <a:latin typeface="Arial" panose="020B0604020202020204" pitchFamily="34" charset="0"/>
                <a:cs typeface="Arial" panose="020B0604020202020204" pitchFamily="34" charset="0"/>
              </a:rPr>
              <a:t> hay </a:t>
            </a:r>
            <a:r>
              <a:rPr lang="en-US" sz="1200" err="1">
                <a:latin typeface="Arial" panose="020B0604020202020204" pitchFamily="34" charset="0"/>
                <a:cs typeface="Arial" panose="020B0604020202020204" pitchFamily="34" charset="0"/>
              </a:rPr>
              <a:t>interaccion</a:t>
            </a:r>
            <a:r>
              <a:rPr lang="en-US" sz="1200">
                <a:latin typeface="Arial" panose="020B0604020202020204" pitchFamily="34" charset="0"/>
                <a:cs typeface="Arial" panose="020B0604020202020204" pitchFamily="34" charset="0"/>
              </a:rPr>
              <a:t> con las </a:t>
            </a:r>
            <a:r>
              <a:rPr lang="en-US" sz="1200" err="1">
                <a:latin typeface="Arial" panose="020B0604020202020204" pitchFamily="34" charset="0"/>
                <a:cs typeface="Arial" panose="020B0604020202020204" pitchFamily="34" charset="0"/>
              </a:rPr>
              <a:t>paredes</a:t>
            </a:r>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502644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9BC32-7DD1-E05F-3DBB-5BDB0501E70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A445A6D4-D5C9-CB5E-07A4-44B04A2070AD}"/>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#1 – Effective index of a waveguide</a:t>
            </a: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280B173E-70DF-361E-3036-554A8A84328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93D1B07D-47D0-64D5-5BDD-DF4AFB708713}"/>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06F9658D-8233-BB3F-C775-AA7FEB52374B}"/>
              </a:ext>
            </a:extLst>
          </p:cNvPr>
          <p:cNvSpPr>
            <a:spLocks noGrp="1"/>
          </p:cNvSpPr>
          <p:nvPr>
            <p:ph type="ftr" sz="quarter" idx="5"/>
          </p:nvPr>
        </p:nvSpPr>
        <p:spPr/>
        <p:txBody>
          <a:bodyPr/>
          <a:lstStyle/>
          <a:p>
            <a:pPr marL="12700">
              <a:spcBef>
                <a:spcPts val="15"/>
              </a:spcBef>
            </a:pPr>
            <a:r>
              <a:rPr lang="es-ES" spc="-5"/>
              <a:t>LAB 1.0 WAVEGUIDES</a:t>
            </a:r>
          </a:p>
        </p:txBody>
      </p:sp>
      <p:sp>
        <p:nvSpPr>
          <p:cNvPr id="4" name="Marcador de texto 2">
            <a:extLst>
              <a:ext uri="{FF2B5EF4-FFF2-40B4-BE49-F238E27FC236}">
                <a16:creationId xmlns:a16="http://schemas.microsoft.com/office/drawing/2014/main" id="{BB19B243-F1CD-8184-6E0C-80B599C05A94}"/>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endParaRPr lang="en-US" sz="2000" b="1" i="1"/>
          </a:p>
          <a:p>
            <a:pPr algn="just"/>
            <a:endParaRPr lang="en-US" sz="2000" kern="0">
              <a:solidFill>
                <a:sysClr val="windowText" lastClr="000000"/>
              </a:solidFill>
            </a:endParaRPr>
          </a:p>
        </p:txBody>
      </p:sp>
      <p:sp>
        <p:nvSpPr>
          <p:cNvPr id="2" name="CuadroTexto 1">
            <a:extLst>
              <a:ext uri="{FF2B5EF4-FFF2-40B4-BE49-F238E27FC236}">
                <a16:creationId xmlns:a16="http://schemas.microsoft.com/office/drawing/2014/main" id="{B58D4DC3-8BC5-DFA8-C649-DF6F2516337C}"/>
              </a:ext>
            </a:extLst>
          </p:cNvPr>
          <p:cNvSpPr txBox="1"/>
          <p:nvPr/>
        </p:nvSpPr>
        <p:spPr>
          <a:xfrm>
            <a:off x="1301716" y="5149571"/>
            <a:ext cx="4565684" cy="461665"/>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Este modo no se </a:t>
            </a:r>
            <a:r>
              <a:rPr lang="en-US" sz="1200" err="1">
                <a:latin typeface="Arial" panose="020B0604020202020204" pitchFamily="34" charset="0"/>
                <a:cs typeface="Arial" panose="020B0604020202020204" pitchFamily="34" charset="0"/>
              </a:rPr>
              <a:t>propaga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ya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que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tiene</a:t>
            </a:r>
            <a:r>
              <a:rPr lang="en-US" sz="1200">
                <a:latin typeface="Arial" panose="020B0604020202020204" pitchFamily="34" charset="0"/>
                <a:cs typeface="Arial" panose="020B0604020202020204" pitchFamily="34" charset="0"/>
              </a:rPr>
              <a:t> un corte </a:t>
            </a:r>
            <a:r>
              <a:rPr lang="en-US" sz="1200" err="1">
                <a:latin typeface="Arial" panose="020B0604020202020204" pitchFamily="34" charset="0"/>
                <a:cs typeface="Arial" panose="020B0604020202020204" pitchFamily="34" charset="0"/>
              </a:rPr>
              <a:t>en</a:t>
            </a:r>
            <a:r>
              <a:rPr lang="en-US" sz="1200">
                <a:latin typeface="Arial" panose="020B0604020202020204" pitchFamily="34" charset="0"/>
                <a:cs typeface="Arial" panose="020B0604020202020204" pitchFamily="34" charset="0"/>
              </a:rPr>
              <a:t> la dimension de la luz</a:t>
            </a:r>
          </a:p>
        </p:txBody>
      </p:sp>
      <p:sp>
        <p:nvSpPr>
          <p:cNvPr id="6" name="CuadroTexto 5">
            <a:extLst>
              <a:ext uri="{FF2B5EF4-FFF2-40B4-BE49-F238E27FC236}">
                <a16:creationId xmlns:a16="http://schemas.microsoft.com/office/drawing/2014/main" id="{CB1EE913-3C85-99BF-2417-51CFFD0C0084}"/>
              </a:ext>
            </a:extLst>
          </p:cNvPr>
          <p:cNvSpPr txBox="1"/>
          <p:nvPr/>
        </p:nvSpPr>
        <p:spPr>
          <a:xfrm>
            <a:off x="970195" y="1045101"/>
            <a:ext cx="10425619" cy="276999"/>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Document all your results (</a:t>
            </a:r>
            <a:r>
              <a:rPr lang="en-US" sz="1200" err="1">
                <a:latin typeface="Arial" panose="020B0604020202020204" pitchFamily="34" charset="0"/>
                <a:cs typeface="Arial" panose="020B0604020202020204" pitchFamily="34" charset="0"/>
              </a:rPr>
              <a:t>neff</a:t>
            </a:r>
            <a:r>
              <a:rPr lang="en-US" sz="1200">
                <a:latin typeface="Arial" panose="020B0604020202020204" pitchFamily="34" charset="0"/>
                <a:cs typeface="Arial" panose="020B0604020202020204" pitchFamily="34" charset="0"/>
              </a:rPr>
              <a:t>, plot fields of different modes, comparison between different polarizations…)</a:t>
            </a:r>
          </a:p>
        </p:txBody>
      </p:sp>
      <p:pic>
        <p:nvPicPr>
          <p:cNvPr id="10" name="Imagen 9" descr="Gráfico&#10;&#10;El contenido generado por IA puede ser incorrecto.">
            <a:extLst>
              <a:ext uri="{FF2B5EF4-FFF2-40B4-BE49-F238E27FC236}">
                <a16:creationId xmlns:a16="http://schemas.microsoft.com/office/drawing/2014/main" id="{A697C8B5-4781-B558-7ED5-5D88F61F50E6}"/>
              </a:ext>
            </a:extLst>
          </p:cNvPr>
          <p:cNvPicPr>
            <a:picLocks noChangeAspect="1"/>
          </p:cNvPicPr>
          <p:nvPr/>
        </p:nvPicPr>
        <p:blipFill>
          <a:blip r:embed="rId5"/>
          <a:stretch>
            <a:fillRect/>
          </a:stretch>
        </p:blipFill>
        <p:spPr>
          <a:xfrm>
            <a:off x="970195" y="1806049"/>
            <a:ext cx="4814689" cy="3174430"/>
          </a:xfrm>
          <a:prstGeom prst="rect">
            <a:avLst/>
          </a:prstGeom>
        </p:spPr>
      </p:pic>
      <p:pic>
        <p:nvPicPr>
          <p:cNvPr id="12" name="Imagen 11" descr="Gráfico, Histograma&#10;&#10;El contenido generado por IA puede ser incorrecto.">
            <a:extLst>
              <a:ext uri="{FF2B5EF4-FFF2-40B4-BE49-F238E27FC236}">
                <a16:creationId xmlns:a16="http://schemas.microsoft.com/office/drawing/2014/main" id="{0113D7B6-8B66-DF26-0CB9-4DCC8EAFC022}"/>
              </a:ext>
            </a:extLst>
          </p:cNvPr>
          <p:cNvPicPr>
            <a:picLocks noChangeAspect="1"/>
          </p:cNvPicPr>
          <p:nvPr/>
        </p:nvPicPr>
        <p:blipFill>
          <a:blip r:embed="rId6"/>
          <a:stretch>
            <a:fillRect/>
          </a:stretch>
        </p:blipFill>
        <p:spPr>
          <a:xfrm>
            <a:off x="6622203" y="1806049"/>
            <a:ext cx="4961785" cy="3200886"/>
          </a:xfrm>
          <a:prstGeom prst="rect">
            <a:avLst/>
          </a:prstGeom>
        </p:spPr>
      </p:pic>
      <p:sp>
        <p:nvSpPr>
          <p:cNvPr id="8" name="CuadroTexto 7">
            <a:extLst>
              <a:ext uri="{FF2B5EF4-FFF2-40B4-BE49-F238E27FC236}">
                <a16:creationId xmlns:a16="http://schemas.microsoft.com/office/drawing/2014/main" id="{9953309E-5E90-9B1D-C8E9-06DADD997992}"/>
              </a:ext>
            </a:extLst>
          </p:cNvPr>
          <p:cNvSpPr txBox="1"/>
          <p:nvPr/>
        </p:nvSpPr>
        <p:spPr>
          <a:xfrm>
            <a:off x="6679986" y="5123700"/>
            <a:ext cx="4565684" cy="646331"/>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Este ultimo modo </a:t>
            </a:r>
            <a:r>
              <a:rPr lang="en-US" sz="1200" err="1">
                <a:latin typeface="Arial" panose="020B0604020202020204" pitchFamily="34" charset="0"/>
                <a:cs typeface="Arial" panose="020B0604020202020204" pitchFamily="34" charset="0"/>
              </a:rPr>
              <a:t>tampoco</a:t>
            </a:r>
            <a:r>
              <a:rPr lang="en-US" sz="1200">
                <a:latin typeface="Arial" panose="020B0604020202020204" pitchFamily="34" charset="0"/>
                <a:cs typeface="Arial" panose="020B0604020202020204" pitchFamily="34" charset="0"/>
              </a:rPr>
              <a:t> se </a:t>
            </a:r>
            <a:r>
              <a:rPr lang="en-US" sz="1200" err="1">
                <a:latin typeface="Arial" panose="020B0604020202020204" pitchFamily="34" charset="0"/>
                <a:cs typeface="Arial" panose="020B0604020202020204" pitchFamily="34" charset="0"/>
              </a:rPr>
              <a:t>propaga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porque</a:t>
            </a:r>
            <a:r>
              <a:rPr lang="en-US" sz="1200">
                <a:latin typeface="Arial" panose="020B0604020202020204" pitchFamily="34" charset="0"/>
                <a:cs typeface="Arial" panose="020B0604020202020204" pitchFamily="34" charset="0"/>
              </a:rPr>
              <a:t> la luz no se </a:t>
            </a:r>
            <a:r>
              <a:rPr lang="en-US" sz="1200" err="1">
                <a:latin typeface="Arial" panose="020B0604020202020204" pitchFamily="34" charset="0"/>
                <a:cs typeface="Arial" panose="020B0604020202020204" pitchFamily="34" charset="0"/>
              </a:rPr>
              <a:t>encuentra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en</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el</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núcleo</a:t>
            </a:r>
            <a:r>
              <a:rPr lang="en-US" sz="1200">
                <a:latin typeface="Arial" panose="020B0604020202020204" pitchFamily="34" charset="0"/>
                <a:cs typeface="Arial" panose="020B0604020202020204" pitchFamily="34" charset="0"/>
              </a:rPr>
              <a:t>, se </a:t>
            </a:r>
            <a:r>
              <a:rPr lang="en-US" sz="1200" err="1">
                <a:latin typeface="Arial" panose="020B0604020202020204" pitchFamily="34" charset="0"/>
                <a:cs typeface="Arial" panose="020B0604020202020204" pitchFamily="34" charset="0"/>
              </a:rPr>
              <a:t>propaga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por</a:t>
            </a:r>
            <a:r>
              <a:rPr lang="en-US" sz="1200">
                <a:latin typeface="Arial" panose="020B0604020202020204" pitchFamily="34" charset="0"/>
                <a:cs typeface="Arial" panose="020B0604020202020204" pitchFamily="34" charset="0"/>
              </a:rPr>
              <a:t> la </a:t>
            </a:r>
            <a:r>
              <a:rPr lang="en-US" sz="1200" err="1">
                <a:latin typeface="Arial" panose="020B0604020202020204" pitchFamily="34" charset="0"/>
                <a:cs typeface="Arial" panose="020B0604020202020204" pitchFamily="34" charset="0"/>
              </a:rPr>
              <a:t>cubierta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por</a:t>
            </a:r>
            <a:r>
              <a:rPr lang="en-US" sz="1200">
                <a:latin typeface="Arial" panose="020B0604020202020204" pitchFamily="34" charset="0"/>
                <a:cs typeface="Arial" panose="020B0604020202020204" pitchFamily="34" charset="0"/>
              </a:rPr>
              <a:t> tanto, es un modo </a:t>
            </a:r>
            <a:r>
              <a:rPr lang="en-US" sz="1200" err="1">
                <a:latin typeface="Arial" panose="020B0604020202020204" pitchFamily="34" charset="0"/>
                <a:cs typeface="Arial" panose="020B0604020202020204" pitchFamily="34" charset="0"/>
              </a:rPr>
              <a:t>perdido</a:t>
            </a:r>
            <a:r>
              <a:rPr lang="en-US" sz="120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6828295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#2 – Wavelength behavior</a:t>
            </a:r>
            <a:br>
              <a:rPr lang="es-ES" sz="2500" spc="-5">
                <a:latin typeface="+mj-lt"/>
                <a:cs typeface="Lucida Sans"/>
              </a:rPr>
            </a:br>
            <a:r>
              <a:rPr lang="en-US" b="0"/>
              <a:t>Wavelength 1.5-1.6 µm (step 0.01 µm) – width 1.2 µm</a:t>
            </a:r>
            <a:endParaRPr sz="2500" b="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860334"/>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Comment results (</a:t>
            </a:r>
            <a:r>
              <a:rPr lang="en-US" sz="1200" err="1">
                <a:latin typeface="Arial" panose="020B0604020202020204" pitchFamily="34" charset="0"/>
                <a:cs typeface="Arial" panose="020B0604020202020204" pitchFamily="34" charset="0"/>
              </a:rPr>
              <a:t>neff</a:t>
            </a:r>
            <a:r>
              <a:rPr lang="en-US" sz="1200">
                <a:latin typeface="Arial" panose="020B0604020202020204" pitchFamily="34" charset="0"/>
                <a:cs typeface="Arial" panose="020B0604020202020204" pitchFamily="34" charset="0"/>
              </a:rPr>
              <a:t> changes this way with wavelength, comparison between different waveguide cross-sections …</a:t>
            </a:r>
            <a:r>
              <a:rPr lang="en-US" sz="1200" err="1">
                <a:latin typeface="Arial" panose="020B0604020202020204" pitchFamily="34" charset="0"/>
                <a:cs typeface="Arial" panose="020B0604020202020204" pitchFamily="34" charset="0"/>
              </a:rPr>
              <a:t>etc</a:t>
            </a:r>
            <a:r>
              <a:rPr lang="en-US" sz="1200">
                <a:latin typeface="Arial" panose="020B0604020202020204" pitchFamily="34" charset="0"/>
                <a:cs typeface="Arial" panose="020B0604020202020204" pitchFamily="34" charset="0"/>
              </a:rPr>
              <a:t>):</a:t>
            </a: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88F19863-7091-B8CA-F848-DBEA5CEEA027}"/>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3C4E7A47-20E2-3C27-D841-5A665642F6E2}"/>
              </a:ext>
            </a:extLst>
          </p:cNvPr>
          <p:cNvSpPr txBox="1"/>
          <p:nvPr/>
        </p:nvSpPr>
        <p:spPr>
          <a:xfrm>
            <a:off x="2285455" y="2671278"/>
            <a:ext cx="1980542" cy="923330"/>
          </a:xfrm>
          <a:prstGeom prst="rect">
            <a:avLst/>
          </a:prstGeom>
          <a:noFill/>
        </p:spPr>
        <p:txBody>
          <a:bodyPr wrap="none" rtlCol="0">
            <a:spAutoFit/>
          </a:bodyPr>
          <a:lstStyle/>
          <a:p>
            <a:pPr algn="ctr"/>
            <a:r>
              <a:rPr lang="en-US" b="1"/>
              <a:t>shallow</a:t>
            </a:r>
            <a:r>
              <a:rPr lang="en-US"/>
              <a:t> waveguide</a:t>
            </a:r>
          </a:p>
          <a:p>
            <a:pPr algn="ctr"/>
            <a:endParaRPr lang="en-US"/>
          </a:p>
          <a:p>
            <a:pPr algn="ctr"/>
            <a:r>
              <a:rPr lang="en-US"/>
              <a:t>Paste plot here</a:t>
            </a:r>
          </a:p>
        </p:txBody>
      </p:sp>
      <p:sp>
        <p:nvSpPr>
          <p:cNvPr id="7" name="Rectángulo 6">
            <a:extLst>
              <a:ext uri="{FF2B5EF4-FFF2-40B4-BE49-F238E27FC236}">
                <a16:creationId xmlns:a16="http://schemas.microsoft.com/office/drawing/2014/main" id="{21F754A5-65BC-14A3-5F55-75716FFA9027}"/>
              </a:ext>
            </a:extLst>
          </p:cNvPr>
          <p:cNvSpPr/>
          <p:nvPr/>
        </p:nvSpPr>
        <p:spPr>
          <a:xfrm>
            <a:off x="64768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CD9C65D4-5494-F5CE-1094-CB0A32C33876}"/>
              </a:ext>
            </a:extLst>
          </p:cNvPr>
          <p:cNvSpPr txBox="1"/>
          <p:nvPr/>
        </p:nvSpPr>
        <p:spPr>
          <a:xfrm>
            <a:off x="8281672" y="2671278"/>
            <a:ext cx="1722908" cy="923330"/>
          </a:xfrm>
          <a:prstGeom prst="rect">
            <a:avLst/>
          </a:prstGeom>
          <a:noFill/>
        </p:spPr>
        <p:txBody>
          <a:bodyPr wrap="none" rtlCol="0">
            <a:spAutoFit/>
          </a:bodyPr>
          <a:lstStyle/>
          <a:p>
            <a:pPr algn="ctr"/>
            <a:r>
              <a:rPr lang="en-US" b="1"/>
              <a:t>deep</a:t>
            </a:r>
            <a:r>
              <a:rPr lang="en-US"/>
              <a:t> waveguide</a:t>
            </a:r>
          </a:p>
          <a:p>
            <a:pPr algn="ctr"/>
            <a:endParaRPr lang="en-US"/>
          </a:p>
          <a:p>
            <a:pPr algn="ctr"/>
            <a:r>
              <a:rPr lang="en-US"/>
              <a:t>Paste plot here</a:t>
            </a:r>
          </a:p>
        </p:txBody>
      </p:sp>
      <p:sp>
        <p:nvSpPr>
          <p:cNvPr id="9" name="CuadroTexto 8">
            <a:extLst>
              <a:ext uri="{FF2B5EF4-FFF2-40B4-BE49-F238E27FC236}">
                <a16:creationId xmlns:a16="http://schemas.microsoft.com/office/drawing/2014/main" id="{8BD4C233-B5D9-B6AA-93A8-CF2F130CFF9C}"/>
              </a:ext>
            </a:extLst>
          </p:cNvPr>
          <p:cNvSpPr txBox="1"/>
          <p:nvPr/>
        </p:nvSpPr>
        <p:spPr>
          <a:xfrm>
            <a:off x="642989" y="4402885"/>
            <a:ext cx="2269787" cy="369332"/>
          </a:xfrm>
          <a:prstGeom prst="rect">
            <a:avLst/>
          </a:prstGeom>
          <a:noFill/>
        </p:spPr>
        <p:txBody>
          <a:bodyPr wrap="square">
            <a:spAutoFit/>
          </a:bodyPr>
          <a:lstStyle/>
          <a:p>
            <a:r>
              <a:rPr lang="en-US"/>
              <a:t>slab = 150nm</a:t>
            </a:r>
            <a:endParaRPr lang="es-ES"/>
          </a:p>
        </p:txBody>
      </p:sp>
      <p:pic>
        <p:nvPicPr>
          <p:cNvPr id="10" name="Imagen 9" descr="Gráfico, Gráfico de líneas&#10;&#10;El contenido generado por IA puede ser incorrecto.">
            <a:extLst>
              <a:ext uri="{FF2B5EF4-FFF2-40B4-BE49-F238E27FC236}">
                <a16:creationId xmlns:a16="http://schemas.microsoft.com/office/drawing/2014/main" id="{2BFBF66B-5E53-292A-EF48-82B3705C35C3}"/>
              </a:ext>
            </a:extLst>
          </p:cNvPr>
          <p:cNvPicPr>
            <a:picLocks noChangeAspect="1"/>
          </p:cNvPicPr>
          <p:nvPr/>
        </p:nvPicPr>
        <p:blipFill>
          <a:blip r:embed="rId5"/>
          <a:stretch>
            <a:fillRect/>
          </a:stretch>
        </p:blipFill>
        <p:spPr>
          <a:xfrm>
            <a:off x="6579632" y="1510370"/>
            <a:ext cx="5126987" cy="2990742"/>
          </a:xfrm>
          <a:prstGeom prst="rect">
            <a:avLst/>
          </a:prstGeom>
        </p:spPr>
      </p:pic>
      <p:pic>
        <p:nvPicPr>
          <p:cNvPr id="12" name="Imagen 11" descr="Gráfico, Gráfico de líneas&#10;&#10;El contenido generado por IA puede ser incorrecto.">
            <a:extLst>
              <a:ext uri="{FF2B5EF4-FFF2-40B4-BE49-F238E27FC236}">
                <a16:creationId xmlns:a16="http://schemas.microsoft.com/office/drawing/2014/main" id="{9E9C01C1-E0D8-7462-3294-8837683D2CAA}"/>
              </a:ext>
            </a:extLst>
          </p:cNvPr>
          <p:cNvPicPr>
            <a:picLocks noChangeAspect="1"/>
          </p:cNvPicPr>
          <p:nvPr/>
        </p:nvPicPr>
        <p:blipFill>
          <a:blip r:embed="rId6"/>
          <a:stretch>
            <a:fillRect/>
          </a:stretch>
        </p:blipFill>
        <p:spPr>
          <a:xfrm>
            <a:off x="677625" y="1491086"/>
            <a:ext cx="5193104" cy="3029311"/>
          </a:xfrm>
          <a:prstGeom prst="rect">
            <a:avLst/>
          </a:prstGeom>
        </p:spPr>
      </p:pic>
      <p:cxnSp>
        <p:nvCxnSpPr>
          <p:cNvPr id="4" name="Conector recto de flecha 3">
            <a:extLst>
              <a:ext uri="{FF2B5EF4-FFF2-40B4-BE49-F238E27FC236}">
                <a16:creationId xmlns:a16="http://schemas.microsoft.com/office/drawing/2014/main" id="{60C66EA6-C887-07F9-6C51-145E8C1CE1F7}"/>
              </a:ext>
            </a:extLst>
          </p:cNvPr>
          <p:cNvCxnSpPr/>
          <p:nvPr/>
        </p:nvCxnSpPr>
        <p:spPr>
          <a:xfrm>
            <a:off x="4152900" y="5457217"/>
            <a:ext cx="3886200"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123560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02D35-64C6-84CC-A034-F789CA79AEF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5AB44F0-A2E1-1E2A-754B-1C6C4DDB5CAE}"/>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#2 – Wavelength behavior</a:t>
            </a:r>
            <a:br>
              <a:rPr lang="es-ES" sz="2500" spc="-5">
                <a:latin typeface="+mj-lt"/>
                <a:cs typeface="Lucida Sans"/>
              </a:rPr>
            </a:br>
            <a:r>
              <a:rPr lang="en-US" b="0"/>
              <a:t>Wavelength 1.5-1.6 µm (step 0.01 µm) – width 1.2 µm</a:t>
            </a:r>
            <a:endParaRPr sz="2500" b="0">
              <a:latin typeface="+mj-lt"/>
              <a:cs typeface="Lucida Sans"/>
            </a:endParaRPr>
          </a:p>
        </p:txBody>
      </p:sp>
      <p:pic>
        <p:nvPicPr>
          <p:cNvPr id="83" name="Gráfico 82">
            <a:extLst>
              <a:ext uri="{FF2B5EF4-FFF2-40B4-BE49-F238E27FC236}">
                <a16:creationId xmlns:a16="http://schemas.microsoft.com/office/drawing/2014/main" id="{3621CFCF-B023-C2D9-E7FC-B1C4FEEE324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305BE39A-F4D1-E323-CBBC-4C7AD0E724D3}"/>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36641163-2937-BA83-76C4-7042B15BE330}"/>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166F5EA6-7D69-A38E-4DF8-BD809BEA2B4C}"/>
              </a:ext>
            </a:extLst>
          </p:cNvPr>
          <p:cNvSpPr txBox="1"/>
          <p:nvPr/>
        </p:nvSpPr>
        <p:spPr>
          <a:xfrm>
            <a:off x="583019" y="1447800"/>
            <a:ext cx="11199971" cy="4339650"/>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Comment results (</a:t>
            </a:r>
            <a:r>
              <a:rPr lang="en-US" sz="1200" err="1">
                <a:latin typeface="Arial" panose="020B0604020202020204" pitchFamily="34" charset="0"/>
                <a:cs typeface="Arial" panose="020B0604020202020204" pitchFamily="34" charset="0"/>
              </a:rPr>
              <a:t>neff</a:t>
            </a:r>
            <a:r>
              <a:rPr lang="en-US" sz="1200">
                <a:latin typeface="Arial" panose="020B0604020202020204" pitchFamily="34" charset="0"/>
                <a:cs typeface="Arial" panose="020B0604020202020204" pitchFamily="34" charset="0"/>
              </a:rPr>
              <a:t> changes this way with wavelength, comparison between different waveguide cross-sections …</a:t>
            </a:r>
            <a:r>
              <a:rPr lang="en-US" sz="1200" err="1">
                <a:latin typeface="Arial" panose="020B0604020202020204" pitchFamily="34" charset="0"/>
                <a:cs typeface="Arial" panose="020B0604020202020204" pitchFamily="34" charset="0"/>
              </a:rPr>
              <a:t>etc</a:t>
            </a:r>
            <a:r>
              <a:rPr lang="en-US" sz="1200">
                <a:latin typeface="Arial" panose="020B0604020202020204" pitchFamily="34" charset="0"/>
                <a:cs typeface="Arial" panose="020B0604020202020204" pitchFamily="34" charset="0"/>
              </a:rPr>
              <a:t>)</a:t>
            </a:r>
          </a:p>
          <a:p>
            <a:pPr algn="just"/>
            <a:endParaRPr lang="en-US" sz="1200">
              <a:latin typeface="Arial" panose="020B0604020202020204" pitchFamily="34" charset="0"/>
              <a:cs typeface="Arial" panose="020B0604020202020204" pitchFamily="34" charset="0"/>
            </a:endParaRPr>
          </a:p>
          <a:p>
            <a:pPr algn="just"/>
            <a:r>
              <a:rPr lang="en-US" sz="1200">
                <a:latin typeface="Arial" panose="020B0604020202020204" pitchFamily="34" charset="0"/>
                <a:cs typeface="Arial" panose="020B0604020202020204" pitchFamily="34" charset="0"/>
              </a:rPr>
              <a:t>-</a:t>
            </a:r>
            <a:r>
              <a:rPr lang="es-ES" sz="1200">
                <a:latin typeface="Arial" panose="020B0604020202020204" pitchFamily="34" charset="0"/>
                <a:cs typeface="Arial" panose="020B0604020202020204" pitchFamily="34" charset="0"/>
              </a:rPr>
              <a:t>Comparando las geometrías, la </a:t>
            </a:r>
            <a:r>
              <a:rPr lang="es-ES" sz="1200" b="1">
                <a:latin typeface="Arial" panose="020B0604020202020204" pitchFamily="34" charset="0"/>
                <a:cs typeface="Arial" panose="020B0604020202020204" pitchFamily="34" charset="0"/>
              </a:rPr>
              <a:t>guía </a:t>
            </a:r>
            <a:r>
              <a:rPr lang="es-ES" sz="1200" b="1" err="1">
                <a:latin typeface="Arial" panose="020B0604020202020204" pitchFamily="34" charset="0"/>
                <a:cs typeface="Arial" panose="020B0604020202020204" pitchFamily="34" charset="0"/>
              </a:rPr>
              <a:t>shallow</a:t>
            </a:r>
            <a:r>
              <a:rPr lang="es-ES" sz="1200" b="1">
                <a:latin typeface="Arial" panose="020B0604020202020204" pitchFamily="34" charset="0"/>
                <a:cs typeface="Arial" panose="020B0604020202020204" pitchFamily="34" charset="0"/>
              </a:rPr>
              <a:t> </a:t>
            </a:r>
            <a:r>
              <a:rPr lang="es-ES" sz="1200">
                <a:latin typeface="Arial" panose="020B0604020202020204" pitchFamily="34" charset="0"/>
                <a:cs typeface="Arial" panose="020B0604020202020204" pitchFamily="34" charset="0"/>
              </a:rPr>
              <a:t>presenta valores de </a:t>
            </a:r>
            <a:r>
              <a:rPr lang="es-ES" sz="1200" err="1">
                <a:latin typeface="Arial" panose="020B0604020202020204" pitchFamily="34" charset="0"/>
                <a:cs typeface="Arial" panose="020B0604020202020204" pitchFamily="34" charset="0"/>
              </a:rPr>
              <a:t>neff</a:t>
            </a:r>
            <a:r>
              <a:rPr lang="es-ES" sz="1200">
                <a:latin typeface="Arial" panose="020B0604020202020204" pitchFamily="34" charset="0"/>
                <a:cs typeface="Arial" panose="020B0604020202020204" pitchFamily="34" charset="0"/>
              </a:rPr>
              <a:t> más elevados para todos los modos, esto se debe a que el </a:t>
            </a:r>
            <a:r>
              <a:rPr lang="es-ES" sz="1200" err="1">
                <a:latin typeface="Arial" panose="020B0604020202020204" pitchFamily="34" charset="0"/>
                <a:cs typeface="Arial" panose="020B0604020202020204" pitchFamily="34" charset="0"/>
              </a:rPr>
              <a:t>slab</a:t>
            </a:r>
            <a:r>
              <a:rPr lang="es-ES" sz="1200">
                <a:latin typeface="Arial" panose="020B0604020202020204" pitchFamily="34" charset="0"/>
                <a:cs typeface="Arial" panose="020B0604020202020204" pitchFamily="34" charset="0"/>
              </a:rPr>
              <a:t> añade una región que contribuye al confinamiento del campo óptico, aumentando la energía guiada dentro del material. En cambio, en la </a:t>
            </a:r>
            <a:r>
              <a:rPr lang="es-ES" sz="1200" b="1">
                <a:latin typeface="Arial" panose="020B0604020202020204" pitchFamily="34" charset="0"/>
                <a:cs typeface="Arial" panose="020B0604020202020204" pitchFamily="34" charset="0"/>
              </a:rPr>
              <a:t>guía </a:t>
            </a:r>
            <a:r>
              <a:rPr lang="es-ES" sz="1200" b="1" err="1">
                <a:latin typeface="Arial" panose="020B0604020202020204" pitchFamily="34" charset="0"/>
                <a:cs typeface="Arial" panose="020B0604020202020204" pitchFamily="34" charset="0"/>
              </a:rPr>
              <a:t>deep</a:t>
            </a:r>
            <a:r>
              <a:rPr lang="es-ES" sz="1200">
                <a:latin typeface="Arial" panose="020B0604020202020204" pitchFamily="34" charset="0"/>
                <a:cs typeface="Arial" panose="020B0604020202020204" pitchFamily="34" charset="0"/>
              </a:rPr>
              <a:t>, se reduce el confinamiento efectivo de los modos superiores, reduciendo el </a:t>
            </a:r>
            <a:r>
              <a:rPr lang="es-ES" sz="1200" err="1">
                <a:latin typeface="Arial" panose="020B0604020202020204" pitchFamily="34" charset="0"/>
                <a:cs typeface="Arial" panose="020B0604020202020204" pitchFamily="34" charset="0"/>
              </a:rPr>
              <a:t>neff</a:t>
            </a:r>
            <a:r>
              <a:rPr lang="es-ES" sz="1200">
                <a:latin typeface="Arial" panose="020B0604020202020204" pitchFamily="34" charset="0"/>
                <a:cs typeface="Arial" panose="020B0604020202020204" pitchFamily="34" charset="0"/>
              </a:rPr>
              <a:t>.</a:t>
            </a:r>
          </a:p>
          <a:p>
            <a:pPr algn="just"/>
            <a:endParaRPr lang="es-ES" sz="1200">
              <a:latin typeface="Arial" panose="020B0604020202020204" pitchFamily="34" charset="0"/>
              <a:cs typeface="Arial" panose="020B0604020202020204" pitchFamily="34" charset="0"/>
            </a:endParaRPr>
          </a:p>
          <a:p>
            <a:pPr algn="just"/>
            <a:r>
              <a:rPr lang="es-ES" sz="1200">
                <a:latin typeface="Arial" panose="020B0604020202020204" pitchFamily="34" charset="0"/>
                <a:cs typeface="Arial" panose="020B0604020202020204" pitchFamily="34" charset="0"/>
              </a:rPr>
              <a:t>-Un modo se propaga cuando su índice efectivo es mayor que el índice de la cubierta (</a:t>
            </a:r>
            <a:r>
              <a:rPr lang="es-ES" sz="1200" err="1">
                <a:latin typeface="Arial" panose="020B0604020202020204" pitchFamily="34" charset="0"/>
                <a:cs typeface="Arial" panose="020B0604020202020204" pitchFamily="34" charset="0"/>
              </a:rPr>
              <a:t>SiO</a:t>
            </a:r>
            <a:r>
              <a:rPr lang="es-ES" sz="1200">
                <a:latin typeface="Arial" panose="020B0604020202020204" pitchFamily="34" charset="0"/>
                <a:cs typeface="Arial" panose="020B0604020202020204" pitchFamily="34" charset="0"/>
              </a:rPr>
              <a:t>₂). En la </a:t>
            </a:r>
            <a:r>
              <a:rPr lang="es-ES" sz="1200" b="1">
                <a:latin typeface="Arial" panose="020B0604020202020204" pitchFamily="34" charset="0"/>
                <a:cs typeface="Arial" panose="020B0604020202020204" pitchFamily="34" charset="0"/>
              </a:rPr>
              <a:t>guía </a:t>
            </a:r>
            <a:r>
              <a:rPr lang="es-ES" sz="1200" b="1" err="1">
                <a:latin typeface="Arial" panose="020B0604020202020204" pitchFamily="34" charset="0"/>
                <a:cs typeface="Arial" panose="020B0604020202020204" pitchFamily="34" charset="0"/>
              </a:rPr>
              <a:t>shallow</a:t>
            </a:r>
            <a:r>
              <a:rPr lang="es-ES" sz="1200">
                <a:latin typeface="Arial" panose="020B0604020202020204" pitchFamily="34" charset="0"/>
                <a:cs typeface="Arial" panose="020B0604020202020204" pitchFamily="34" charset="0"/>
              </a:rPr>
              <a:t>, esto se cumple para todos los modos, por lo que todos permanecen confinados y pueden propagarse. Sin embargo, en la </a:t>
            </a:r>
            <a:r>
              <a:rPr lang="es-ES" sz="1200" b="1">
                <a:latin typeface="Arial" panose="020B0604020202020204" pitchFamily="34" charset="0"/>
                <a:cs typeface="Arial" panose="020B0604020202020204" pitchFamily="34" charset="0"/>
              </a:rPr>
              <a:t>guía </a:t>
            </a:r>
            <a:r>
              <a:rPr lang="es-ES" sz="1200" b="1" err="1">
                <a:latin typeface="Arial" panose="020B0604020202020204" pitchFamily="34" charset="0"/>
                <a:cs typeface="Arial" panose="020B0604020202020204" pitchFamily="34" charset="0"/>
              </a:rPr>
              <a:t>deep</a:t>
            </a:r>
            <a:r>
              <a:rPr lang="es-ES" sz="1200">
                <a:latin typeface="Arial" panose="020B0604020202020204" pitchFamily="34" charset="0"/>
                <a:cs typeface="Arial" panose="020B0604020202020204" pitchFamily="34" charset="0"/>
              </a:rPr>
              <a:t>, solo los dos primeros modos presentan un índice efectivo alto, mientras que los modos superiores se encuentran próximos al índice de la cubierta y por tanto no se propagan.</a:t>
            </a:r>
          </a:p>
          <a:p>
            <a:pPr algn="just"/>
            <a:endParaRPr lang="es-ES" sz="1200">
              <a:latin typeface="Arial" panose="020B0604020202020204" pitchFamily="34" charset="0"/>
              <a:cs typeface="Arial" panose="020B0604020202020204" pitchFamily="34" charset="0"/>
            </a:endParaRPr>
          </a:p>
          <a:p>
            <a:pPr algn="just"/>
            <a:r>
              <a:rPr lang="es-ES" sz="1200">
                <a:latin typeface="Arial" panose="020B0604020202020204" pitchFamily="34" charset="0"/>
                <a:cs typeface="Arial" panose="020B0604020202020204" pitchFamily="34" charset="0"/>
              </a:rPr>
              <a:t>-Tras estas conclusiones, concluimos que la </a:t>
            </a:r>
            <a:r>
              <a:rPr lang="es-ES" sz="1200" b="1">
                <a:latin typeface="Arial" panose="020B0604020202020204" pitchFamily="34" charset="0"/>
                <a:cs typeface="Arial" panose="020B0604020202020204" pitchFamily="34" charset="0"/>
              </a:rPr>
              <a:t>guía Deep </a:t>
            </a:r>
            <a:r>
              <a:rPr lang="es-ES" sz="1200">
                <a:latin typeface="Arial" panose="020B0604020202020204" pitchFamily="34" charset="0"/>
                <a:cs typeface="Arial" panose="020B0604020202020204" pitchFamily="34" charset="0"/>
              </a:rPr>
              <a:t>tiene un comportamiento monomodo, ya que el modo fundamental esta mas confinado y evita que se propaguen el resto de modos. Por el contrario, la </a:t>
            </a:r>
            <a:r>
              <a:rPr lang="es-ES" sz="1200" b="1">
                <a:latin typeface="Arial" panose="020B0604020202020204" pitchFamily="34" charset="0"/>
                <a:cs typeface="Arial" panose="020B0604020202020204" pitchFamily="34" charset="0"/>
              </a:rPr>
              <a:t>guía </a:t>
            </a:r>
            <a:r>
              <a:rPr lang="es-ES" sz="1200" b="1" err="1">
                <a:latin typeface="Arial" panose="020B0604020202020204" pitchFamily="34" charset="0"/>
                <a:cs typeface="Arial" panose="020B0604020202020204" pitchFamily="34" charset="0"/>
              </a:rPr>
              <a:t>Shallow</a:t>
            </a:r>
            <a:r>
              <a:rPr lang="es-ES" sz="1200">
                <a:latin typeface="Arial" panose="020B0604020202020204" pitchFamily="34" charset="0"/>
                <a:cs typeface="Arial" panose="020B0604020202020204" pitchFamily="34" charset="0"/>
              </a:rPr>
              <a:t>, tiene un comportamiento multimodo, permitiendo la propagación de todos los modos, con lo cual puede derivar en dispersión modal, causada por las diferentes velocidades de grupo de cada uno de los modos.</a:t>
            </a:r>
          </a:p>
          <a:p>
            <a:pPr algn="just"/>
            <a:endParaRPr lang="es-ES" sz="1200">
              <a:latin typeface="Arial" panose="020B0604020202020204" pitchFamily="34" charset="0"/>
              <a:cs typeface="Arial" panose="020B0604020202020204" pitchFamily="34" charset="0"/>
            </a:endParaRPr>
          </a:p>
          <a:p>
            <a:pPr algn="just"/>
            <a:r>
              <a:rPr lang="es-ES" sz="1200">
                <a:latin typeface="Arial" panose="020B0604020202020204" pitchFamily="34" charset="0"/>
                <a:cs typeface="Arial" panose="020B0604020202020204" pitchFamily="34" charset="0"/>
              </a:rPr>
              <a:t>-Analizando la fracción de polarización de la </a:t>
            </a:r>
            <a:r>
              <a:rPr lang="es-ES" sz="1200" b="1">
                <a:latin typeface="Arial" panose="020B0604020202020204" pitchFamily="34" charset="0"/>
                <a:cs typeface="Arial" panose="020B0604020202020204" pitchFamily="34" charset="0"/>
              </a:rPr>
              <a:t>guía </a:t>
            </a:r>
            <a:r>
              <a:rPr lang="es-ES" sz="1200" b="1" err="1">
                <a:latin typeface="Arial" panose="020B0604020202020204" pitchFamily="34" charset="0"/>
                <a:cs typeface="Arial" panose="020B0604020202020204" pitchFamily="34" charset="0"/>
              </a:rPr>
              <a:t>Shallow</a:t>
            </a:r>
            <a:r>
              <a:rPr lang="es-ES" sz="1200">
                <a:latin typeface="Arial" panose="020B0604020202020204" pitchFamily="34" charset="0"/>
                <a:cs typeface="Arial" panose="020B0604020202020204" pitchFamily="34" charset="0"/>
              </a:rPr>
              <a:t>, obtenemos que el modo 0 corresponde a un modo TE, mientras que el modo 1 tiene un 70% de componente TE y un 30% de componente TM.</a:t>
            </a: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pic>
        <p:nvPicPr>
          <p:cNvPr id="5" name="Imagen 4" descr="Interfaz de usuario gráfica&#10;&#10;El contenido generado por IA puede ser incorrecto.">
            <a:extLst>
              <a:ext uri="{FF2B5EF4-FFF2-40B4-BE49-F238E27FC236}">
                <a16:creationId xmlns:a16="http://schemas.microsoft.com/office/drawing/2014/main" id="{81759403-0034-2271-0BAF-23CDDF808884}"/>
              </a:ext>
            </a:extLst>
          </p:cNvPr>
          <p:cNvPicPr>
            <a:picLocks noChangeAspect="1"/>
          </p:cNvPicPr>
          <p:nvPr/>
        </p:nvPicPr>
        <p:blipFill>
          <a:blip r:embed="rId5"/>
          <a:stretch>
            <a:fillRect/>
          </a:stretch>
        </p:blipFill>
        <p:spPr>
          <a:xfrm>
            <a:off x="3835688" y="4686874"/>
            <a:ext cx="4520624" cy="956920"/>
          </a:xfrm>
          <a:prstGeom prst="rect">
            <a:avLst/>
          </a:prstGeom>
        </p:spPr>
      </p:pic>
    </p:spTree>
    <p:extLst>
      <p:ext uri="{BB962C8B-B14F-4D97-AF65-F5344CB8AC3E}">
        <p14:creationId xmlns:p14="http://schemas.microsoft.com/office/powerpoint/2010/main" val="24018619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#3 – Width dependence</a:t>
            </a:r>
            <a:br>
              <a:rPr lang="es-ES" sz="2500" spc="-5">
                <a:latin typeface="+mj-lt"/>
                <a:cs typeface="Lucida Sans"/>
              </a:rPr>
            </a:br>
            <a:r>
              <a:rPr lang="en-US" b="0"/>
              <a:t>Width 0.6 - 1.6 µm (step 0.1 µm) – Wavelength 1.55 µm </a:t>
            </a:r>
            <a:endParaRPr sz="2500" b="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82A62DD6-5488-72A1-9926-0CAEE59089A9}"/>
              </a:ext>
            </a:extLst>
          </p:cNvPr>
          <p:cNvSpPr txBox="1"/>
          <p:nvPr/>
        </p:nvSpPr>
        <p:spPr>
          <a:xfrm>
            <a:off x="7869677" y="1418270"/>
            <a:ext cx="3939702" cy="4893647"/>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a:t>
            </a:r>
            <a:r>
              <a:rPr lang="en-US" sz="1200" dirty="0" err="1">
                <a:latin typeface="Arial" panose="020B0604020202020204" pitchFamily="34" charset="0"/>
                <a:cs typeface="Arial" panose="020B0604020202020204" pitchFamily="34" charset="0"/>
              </a:rPr>
              <a:t>neff</a:t>
            </a:r>
            <a:r>
              <a:rPr lang="en-US" sz="1200" dirty="0">
                <a:latin typeface="Arial" panose="020B0604020202020204" pitchFamily="34" charset="0"/>
                <a:cs typeface="Arial" panose="020B0604020202020204" pitchFamily="34" charset="0"/>
              </a:rPr>
              <a:t> changes this way with width, polarization behavior, </a:t>
            </a:r>
            <a:r>
              <a:rPr lang="en-US" sz="1200" dirty="0" err="1">
                <a:latin typeface="Arial" panose="020B0604020202020204" pitchFamily="34" charset="0"/>
                <a:cs typeface="Arial" panose="020B0604020202020204" pitchFamily="34" charset="0"/>
              </a:rPr>
              <a:t>etc</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Al aumentar el ancho de la guía, el campo óptico se confina más dentro del núcleo, incrementando así el valor del índice efectivo</a:t>
            </a:r>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Para anchos inferiores a aproximadamente 1,4 µm, la guía se comporta como monomodo en TE, ya que solo el modo fundamental está confinado. A partir de ese valor aparecen modos adicionales, perdiéndose la condición monomodo. En TM, la guía permanece monomodo hasta aproximadamente 1,9 µm. </a:t>
            </a:r>
          </a:p>
          <a:p>
            <a:pPr algn="just"/>
            <a:r>
              <a:rPr lang="es-ES" sz="1200" dirty="0">
                <a:latin typeface="Arial" panose="020B0604020202020204" pitchFamily="34" charset="0"/>
                <a:cs typeface="Arial" panose="020B0604020202020204" pitchFamily="34" charset="0"/>
              </a:rPr>
              <a:t>El modo más confinado es el modo fundamental (Modo 0), ya que presenta el mayor índice efectivo y mayor separación respecto al índice del SiO2.</a:t>
            </a:r>
          </a:p>
          <a:p>
            <a:pPr algn="just"/>
            <a:r>
              <a:rPr lang="es-ES" sz="1200" dirty="0">
                <a:latin typeface="Arial" panose="020B0604020202020204" pitchFamily="34" charset="0"/>
                <a:cs typeface="Arial" panose="020B0604020202020204" pitchFamily="34" charset="0"/>
              </a:rPr>
              <a:t>Con todos estos resultados obtenidos, el ancho ideal para trabajar con guías monomodo sería de 1,2 µm, ya que a partir de ese valor, dejamos de tener condición de monomodo en TE y posteriormente en TM.</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FBC7D187-267A-ADD4-764C-D3820B8ED302}"/>
              </a:ext>
            </a:extLst>
          </p:cNvPr>
          <p:cNvSpPr/>
          <p:nvPr/>
        </p:nvSpPr>
        <p:spPr>
          <a:xfrm>
            <a:off x="609441" y="1418372"/>
            <a:ext cx="6936696" cy="452522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1EF5BFDA-8EC1-8C73-A932-F36C4DB93C73}"/>
              </a:ext>
            </a:extLst>
          </p:cNvPr>
          <p:cNvSpPr txBox="1"/>
          <p:nvPr/>
        </p:nvSpPr>
        <p:spPr>
          <a:xfrm>
            <a:off x="2286000" y="2671278"/>
            <a:ext cx="7718580" cy="923330"/>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plot here</a:t>
            </a:r>
          </a:p>
        </p:txBody>
      </p:sp>
      <p:pic>
        <p:nvPicPr>
          <p:cNvPr id="6" name="Imagen 5">
            <a:extLst>
              <a:ext uri="{FF2B5EF4-FFF2-40B4-BE49-F238E27FC236}">
                <a16:creationId xmlns:a16="http://schemas.microsoft.com/office/drawing/2014/main" id="{331D7911-17BD-8285-0D3E-2F9D49728DCB}"/>
              </a:ext>
            </a:extLst>
          </p:cNvPr>
          <p:cNvPicPr>
            <a:picLocks noChangeAspect="1"/>
          </p:cNvPicPr>
          <p:nvPr/>
        </p:nvPicPr>
        <p:blipFill>
          <a:blip r:embed="rId5"/>
          <a:stretch>
            <a:fillRect/>
          </a:stretch>
        </p:blipFill>
        <p:spPr>
          <a:xfrm>
            <a:off x="685800" y="1754857"/>
            <a:ext cx="6777635" cy="3945552"/>
          </a:xfrm>
          <a:prstGeom prst="rect">
            <a:avLst/>
          </a:prstGeom>
        </p:spPr>
      </p:pic>
    </p:spTree>
    <p:extLst>
      <p:ext uri="{BB962C8B-B14F-4D97-AF65-F5344CB8AC3E}">
        <p14:creationId xmlns:p14="http://schemas.microsoft.com/office/powerpoint/2010/main" val="29001174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DA0F9-B230-D9FC-3CE7-03BD08CF54F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94400B4-EE16-8E85-AB54-E82FE3B29345}"/>
              </a:ext>
            </a:extLst>
          </p:cNvPr>
          <p:cNvSpPr txBox="1">
            <a:spLocks noGrp="1"/>
          </p:cNvSpPr>
          <p:nvPr>
            <p:ph type="title"/>
          </p:nvPr>
        </p:nvSpPr>
        <p:spPr>
          <a:xfrm>
            <a:off x="685800" y="408883"/>
            <a:ext cx="10994410" cy="1397819"/>
          </a:xfrm>
          <a:prstGeom prst="rect">
            <a:avLst/>
          </a:prstGeom>
        </p:spPr>
        <p:txBody>
          <a:bodyPr vert="horz" wrap="square" lIns="0" tIns="12700" rIns="0" bIns="0" rtlCol="0">
            <a:spAutoFit/>
          </a:bodyPr>
          <a:lstStyle/>
          <a:p>
            <a:pPr marL="12700">
              <a:lnSpc>
                <a:spcPct val="100000"/>
              </a:lnSpc>
              <a:spcBef>
                <a:spcPts val="100"/>
              </a:spcBef>
            </a:pPr>
            <a:r>
              <a:rPr lang="en-US" sz="2500"/>
              <a:t>Learning outcome #4 – Waveguide compact model</a:t>
            </a:r>
            <a:br>
              <a:rPr lang="en-US" sz="2500" spc="-5">
                <a:latin typeface="+mj-lt"/>
                <a:cs typeface="Lucida Sans"/>
              </a:rPr>
            </a:br>
            <a:r>
              <a:rPr lang="en-US" b="0"/>
              <a:t>- Find the compact models of the following waveguides: </a:t>
            </a:r>
            <a:br>
              <a:rPr lang="en-US" b="0"/>
            </a:br>
            <a:r>
              <a:rPr lang="en-US"/>
              <a:t>Deep</a:t>
            </a:r>
            <a:r>
              <a:rPr lang="en-US" b="0"/>
              <a:t> waveguide, h=300nm, w=1.2um   - </a:t>
            </a:r>
            <a:r>
              <a:rPr lang="en-US"/>
              <a:t>Shallow</a:t>
            </a:r>
            <a:r>
              <a:rPr lang="en-US" b="0"/>
              <a:t> waveguide, core h=300nm, slab h=150 nm, w = 1.2um </a:t>
            </a:r>
            <a:br>
              <a:rPr lang="en-US" b="0"/>
            </a:br>
            <a:endParaRPr lang="en-US" sz="2500" b="0">
              <a:latin typeface="+mj-lt"/>
              <a:cs typeface="Lucida Sans"/>
            </a:endParaRPr>
          </a:p>
        </p:txBody>
      </p:sp>
      <p:pic>
        <p:nvPicPr>
          <p:cNvPr id="83" name="Gráfico 82">
            <a:extLst>
              <a:ext uri="{FF2B5EF4-FFF2-40B4-BE49-F238E27FC236}">
                <a16:creationId xmlns:a16="http://schemas.microsoft.com/office/drawing/2014/main" id="{4D53B68D-17ED-7EFB-F2B4-10DA7A772E1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9AB8697-C1EE-6E9A-6550-ACA2C3AE6630}"/>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970D4A6C-5B37-EDF5-6242-74B16127E96B}"/>
              </a:ext>
            </a:extLst>
          </p:cNvPr>
          <p:cNvSpPr>
            <a:spLocks noGrp="1"/>
          </p:cNvSpPr>
          <p:nvPr>
            <p:ph type="ftr" sz="quarter" idx="5"/>
          </p:nvPr>
        </p:nvSpPr>
        <p:spPr/>
        <p:txBody>
          <a:bodyPr/>
          <a:lstStyle/>
          <a:p>
            <a:pPr marL="12700">
              <a:spcBef>
                <a:spcPts val="15"/>
              </a:spcBef>
            </a:pPr>
            <a:r>
              <a:rPr lang="es-ES" spc="-5"/>
              <a:t>LAB 1.0 WAVEGUIDES</a:t>
            </a: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A440F587-93A3-E474-C0B0-883BB9DAFD85}"/>
                  </a:ext>
                </a:extLst>
              </p:cNvPr>
              <p:cNvSpPr txBox="1"/>
              <p:nvPr/>
            </p:nvSpPr>
            <p:spPr>
              <a:xfrm>
                <a:off x="609441" y="4860334"/>
                <a:ext cx="11198542" cy="1361911"/>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Find the second-degree polynomial coefficients and relate them with the group index and the dispersion parameter. </a:t>
                </a:r>
                <a14:m>
                  <m:oMath xmlns:m="http://schemas.openxmlformats.org/officeDocument/2006/math">
                    <m:d>
                      <m:dPr>
                        <m:begChr m:val="{"/>
                        <m:endChr m:val=""/>
                        <m:ctrlPr>
                          <a:rPr lang="es-ES" sz="1200" b="0" i="1" smtClean="0">
                            <a:latin typeface="Cambria Math" panose="02040503050406030204" pitchFamily="18" charset="0"/>
                            <a:cs typeface="Arial" panose="020B0604020202020204" pitchFamily="34" charset="0"/>
                          </a:rPr>
                        </m:ctrlPr>
                      </m:dPr>
                      <m:e>
                        <m:eqArr>
                          <m:eqArrPr>
                            <m:ctrlPr>
                              <a:rPr lang="es-ES" sz="1200" b="0" i="1" smtClean="0">
                                <a:latin typeface="Cambria Math" panose="02040503050406030204" pitchFamily="18" charset="0"/>
                                <a:cs typeface="Arial" panose="020B0604020202020204" pitchFamily="34" charset="0"/>
                              </a:rPr>
                            </m:ctrlPr>
                          </m:eqArrPr>
                          <m:e>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𝑒𝑓𝑓</m:t>
                                </m:r>
                              </m:sub>
                            </m:sSub>
                            <m:r>
                              <a:rPr lang="es-ES" sz="1200" b="0" i="1" smtClean="0">
                                <a:latin typeface="Cambria Math" panose="02040503050406030204" pitchFamily="18" charset="0"/>
                                <a:cs typeface="Arial" panose="020B0604020202020204" pitchFamily="34" charset="0"/>
                              </a:rPr>
                              <m:t>=</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1</m:t>
                                </m:r>
                              </m:sub>
                            </m:sSub>
                          </m:e>
                          <m:e>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𝑔</m:t>
                                </m:r>
                              </m:sub>
                            </m:sSub>
                            <m:r>
                              <a:rPr lang="es-ES" sz="1200" b="0" i="1" smtClean="0">
                                <a:latin typeface="Cambria Math" panose="02040503050406030204" pitchFamily="18" charset="0"/>
                                <a:cs typeface="Arial" panose="020B0604020202020204" pitchFamily="34" charset="0"/>
                              </a:rPr>
                              <m:t>=</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1</m:t>
                                </m:r>
                              </m:sub>
                            </m:sSub>
                            <m:r>
                              <a:rPr lang="es-ES" sz="1200" b="0" i="1" smtClean="0">
                                <a:latin typeface="Cambria Math" panose="02040503050406030204" pitchFamily="18" charset="0"/>
                                <a:cs typeface="Arial" panose="020B0604020202020204" pitchFamily="34" charset="0"/>
                              </a:rPr>
                              <m:t>−</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2</m:t>
                                </m:r>
                              </m:sub>
                            </m:sSub>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𝜆</m:t>
                                </m:r>
                              </m:e>
                              <m:sub>
                                <m:r>
                                  <a:rPr lang="es-ES" sz="1200" b="0" i="1" smtClean="0">
                                    <a:latin typeface="Cambria Math" panose="02040503050406030204" pitchFamily="18" charset="0"/>
                                    <a:cs typeface="Arial" panose="020B0604020202020204" pitchFamily="34" charset="0"/>
                                  </a:rPr>
                                  <m:t>0</m:t>
                                </m:r>
                              </m:sub>
                            </m:sSub>
                          </m:e>
                          <m:e>
                            <m:r>
                              <a:rPr lang="es-ES" sz="1200" b="0" i="1" smtClean="0">
                                <a:latin typeface="Cambria Math" panose="02040503050406030204" pitchFamily="18" charset="0"/>
                                <a:cs typeface="Arial" panose="020B0604020202020204" pitchFamily="34" charset="0"/>
                              </a:rPr>
                              <m:t>𝐷</m:t>
                            </m:r>
                            <m:r>
                              <a:rPr lang="es-ES" sz="1200" b="0" i="1" smtClean="0">
                                <a:latin typeface="Cambria Math" panose="02040503050406030204" pitchFamily="18" charset="0"/>
                                <a:cs typeface="Arial" panose="020B0604020202020204" pitchFamily="34" charset="0"/>
                              </a:rPr>
                              <m:t>=−</m:t>
                            </m:r>
                            <m:f>
                              <m:fPr>
                                <m:ctrlPr>
                                  <a:rPr lang="es-ES" sz="1200" b="0" i="1" smtClean="0">
                                    <a:latin typeface="Cambria Math" panose="02040503050406030204" pitchFamily="18" charset="0"/>
                                    <a:cs typeface="Arial" panose="020B0604020202020204" pitchFamily="34" charset="0"/>
                                  </a:rPr>
                                </m:ctrlPr>
                              </m:fPr>
                              <m:num>
                                <m:r>
                                  <a:rPr lang="es-ES" sz="1200" b="0" i="1" smtClean="0">
                                    <a:latin typeface="Cambria Math" panose="02040503050406030204" pitchFamily="18" charset="0"/>
                                    <a:cs typeface="Arial" panose="020B0604020202020204" pitchFamily="34" charset="0"/>
                                  </a:rPr>
                                  <m:t>2</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𝜆</m:t>
                                    </m:r>
                                  </m:e>
                                  <m:sub>
                                    <m:r>
                                      <a:rPr lang="es-ES" sz="1200" b="0" i="1" smtClean="0">
                                        <a:latin typeface="Cambria Math" panose="02040503050406030204" pitchFamily="18" charset="0"/>
                                        <a:cs typeface="Arial" panose="020B0604020202020204" pitchFamily="34" charset="0"/>
                                      </a:rPr>
                                      <m:t>0</m:t>
                                    </m:r>
                                  </m:sub>
                                </m:sSub>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3</m:t>
                                    </m:r>
                                  </m:sub>
                                </m:sSub>
                              </m:num>
                              <m:den>
                                <m:r>
                                  <a:rPr lang="es-ES" sz="1200" b="0" i="1" smtClean="0">
                                    <a:latin typeface="Cambria Math" panose="02040503050406030204" pitchFamily="18" charset="0"/>
                                    <a:cs typeface="Arial" panose="020B0604020202020204" pitchFamily="34" charset="0"/>
                                  </a:rPr>
                                  <m:t>𝑐</m:t>
                                </m:r>
                              </m:den>
                            </m:f>
                            <m:d>
                              <m:dPr>
                                <m:begChr m:val="["/>
                                <m:endChr m:val="]"/>
                                <m:ctrlPr>
                                  <a:rPr lang="es-ES" sz="1200" b="0" i="1" smtClean="0">
                                    <a:latin typeface="Cambria Math" panose="02040503050406030204" pitchFamily="18" charset="0"/>
                                    <a:cs typeface="Arial" panose="020B0604020202020204" pitchFamily="34" charset="0"/>
                                  </a:rPr>
                                </m:ctrlPr>
                              </m:dPr>
                              <m:e>
                                <m:f>
                                  <m:fPr>
                                    <m:ctrlPr>
                                      <a:rPr lang="es-ES" sz="1200" b="0" i="1" smtClean="0">
                                        <a:latin typeface="Cambria Math" panose="02040503050406030204" pitchFamily="18" charset="0"/>
                                        <a:cs typeface="Arial" panose="020B0604020202020204" pitchFamily="34" charset="0"/>
                                      </a:rPr>
                                    </m:ctrlPr>
                                  </m:fPr>
                                  <m:num>
                                    <m:sSup>
                                      <m:sSupPr>
                                        <m:ctrlPr>
                                          <a:rPr lang="es-ES" sz="1200" b="0" i="1" smtClean="0">
                                            <a:latin typeface="Cambria Math" panose="02040503050406030204" pitchFamily="18" charset="0"/>
                                            <a:cs typeface="Arial" panose="020B0604020202020204" pitchFamily="34" charset="0"/>
                                          </a:rPr>
                                        </m:ctrlPr>
                                      </m:sSupPr>
                                      <m:e>
                                        <m:r>
                                          <a:rPr lang="es-ES" sz="1200" b="0" i="1" smtClean="0">
                                            <a:latin typeface="Cambria Math" panose="02040503050406030204" pitchFamily="18" charset="0"/>
                                            <a:cs typeface="Arial" panose="020B0604020202020204" pitchFamily="34" charset="0"/>
                                          </a:rPr>
                                          <m:t>𝑠</m:t>
                                        </m:r>
                                      </m:e>
                                      <m:sup>
                                        <m:r>
                                          <a:rPr lang="es-ES" sz="1200" b="0" i="1" smtClean="0">
                                            <a:latin typeface="Cambria Math" panose="02040503050406030204" pitchFamily="18" charset="0"/>
                                            <a:cs typeface="Arial" panose="020B0604020202020204" pitchFamily="34" charset="0"/>
                                          </a:rPr>
                                          <m:t>2</m:t>
                                        </m:r>
                                      </m:sup>
                                    </m:sSup>
                                  </m:num>
                                  <m:den>
                                    <m:r>
                                      <a:rPr lang="es-ES" sz="1200" b="0" i="1" smtClean="0">
                                        <a:latin typeface="Cambria Math" panose="02040503050406030204" pitchFamily="18" charset="0"/>
                                        <a:cs typeface="Arial" panose="020B0604020202020204" pitchFamily="34" charset="0"/>
                                      </a:rPr>
                                      <m:t>𝑚</m:t>
                                    </m:r>
                                  </m:den>
                                </m:f>
                              </m:e>
                            </m:d>
                          </m:e>
                        </m:eqArr>
                      </m:e>
                    </m:d>
                  </m:oMath>
                </a14:m>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Comment on the results found for the TE0 and TM0 for both deep and shallow waveguides.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mc:Choice>
        <mc:Fallback xmlns="">
          <p:sp>
            <p:nvSpPr>
              <p:cNvPr id="2" name="CuadroTexto 1">
                <a:extLst>
                  <a:ext uri="{FF2B5EF4-FFF2-40B4-BE49-F238E27FC236}">
                    <a16:creationId xmlns:a16="http://schemas.microsoft.com/office/drawing/2014/main" id="{A440F587-93A3-E474-C0B0-883BB9DAFD85}"/>
                  </a:ext>
                </a:extLst>
              </p:cNvPr>
              <p:cNvSpPr txBox="1">
                <a:spLocks noRot="1" noChangeAspect="1" noMove="1" noResize="1" noEditPoints="1" noAdjustHandles="1" noChangeArrowheads="1" noChangeShapeType="1" noTextEdit="1"/>
              </p:cNvSpPr>
              <p:nvPr/>
            </p:nvSpPr>
            <p:spPr>
              <a:xfrm>
                <a:off x="609441" y="4860334"/>
                <a:ext cx="11198542" cy="1361911"/>
              </a:xfrm>
              <a:prstGeom prst="rect">
                <a:avLst/>
              </a:prstGeom>
              <a:blipFill>
                <a:blip r:embed="rId5"/>
                <a:stretch>
                  <a:fillRect/>
                </a:stretch>
              </a:blipFill>
              <a:ln w="28575">
                <a:solidFill>
                  <a:srgbClr val="E0700D"/>
                </a:solidFill>
              </a:ln>
            </p:spPr>
            <p:txBody>
              <a:bodyPr/>
              <a:lstStyle/>
              <a:p>
                <a:r>
                  <a:rPr lang="es-ES">
                    <a:noFill/>
                  </a:rPr>
                  <a:t> </a:t>
                </a:r>
              </a:p>
            </p:txBody>
          </p:sp>
        </mc:Fallback>
      </mc:AlternateContent>
      <p:sp>
        <p:nvSpPr>
          <p:cNvPr id="5" name="Rectángulo 4">
            <a:extLst>
              <a:ext uri="{FF2B5EF4-FFF2-40B4-BE49-F238E27FC236}">
                <a16:creationId xmlns:a16="http://schemas.microsoft.com/office/drawing/2014/main" id="{A6B92C76-6772-2E00-346F-532321092C0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2886628E-6E58-1F7E-B6C6-432B9A228397}"/>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C59B6428-4395-242F-54D8-A9FC610F2D7A}"/>
                  </a:ext>
                </a:extLst>
              </p:cNvPr>
              <p:cNvSpPr txBox="1"/>
              <p:nvPr/>
            </p:nvSpPr>
            <p:spPr>
              <a:xfrm>
                <a:off x="2112443" y="2551837"/>
                <a:ext cx="2980066" cy="1754326"/>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b="1"/>
                  <a:t>neff_TE0 vs </a:t>
                </a:r>
                <a14:m>
                  <m:oMath xmlns:m="http://schemas.openxmlformats.org/officeDocument/2006/math">
                    <m:r>
                      <a:rPr lang="es-ES" b="1" i="1" smtClean="0">
                        <a:latin typeface="Cambria Math" panose="02040503050406030204" pitchFamily="18" charset="0"/>
                      </a:rPr>
                      <m:t>𝝀</m:t>
                    </m:r>
                  </m:oMath>
                </a14:m>
                <a:r>
                  <a:rPr lang="en-US" b="1"/>
                  <a:t> </a:t>
                </a:r>
                <a:r>
                  <a:rPr lang="en-US"/>
                  <a:t>with the second-degree polynomial fit  </a:t>
                </a:r>
              </a:p>
              <a:p>
                <a:pPr algn="ctr"/>
                <a:r>
                  <a:rPr lang="en-US"/>
                  <a:t>&amp; </a:t>
                </a:r>
                <a:r>
                  <a:rPr lang="en-US" b="1"/>
                  <a:t>neff_TM0 vs </a:t>
                </a:r>
                <a14:m>
                  <m:oMath xmlns:m="http://schemas.openxmlformats.org/officeDocument/2006/math">
                    <m:r>
                      <a:rPr lang="es-ES" b="1" i="1">
                        <a:latin typeface="Cambria Math" panose="02040503050406030204" pitchFamily="18" charset="0"/>
                      </a:rPr>
                      <m:t>𝝀</m:t>
                    </m:r>
                  </m:oMath>
                </a14:m>
                <a:r>
                  <a:rPr lang="en-US" b="1"/>
                  <a:t> </a:t>
                </a:r>
                <a:r>
                  <a:rPr lang="en-US"/>
                  <a:t>with the second-degree polynomial fit </a:t>
                </a:r>
              </a:p>
            </p:txBody>
          </p:sp>
        </mc:Choice>
        <mc:Fallback xmlns="">
          <p:sp>
            <p:nvSpPr>
              <p:cNvPr id="9" name="CuadroTexto 8">
                <a:extLst>
                  <a:ext uri="{FF2B5EF4-FFF2-40B4-BE49-F238E27FC236}">
                    <a16:creationId xmlns:a16="http://schemas.microsoft.com/office/drawing/2014/main" id="{C59B6428-4395-242F-54D8-A9FC610F2D7A}"/>
                  </a:ext>
                </a:extLst>
              </p:cNvPr>
              <p:cNvSpPr txBox="1">
                <a:spLocks noRot="1" noChangeAspect="1" noMove="1" noResize="1" noEditPoints="1" noAdjustHandles="1" noChangeArrowheads="1" noChangeShapeType="1" noTextEdit="1"/>
              </p:cNvSpPr>
              <p:nvPr/>
            </p:nvSpPr>
            <p:spPr>
              <a:xfrm>
                <a:off x="2112443" y="2551837"/>
                <a:ext cx="2980066" cy="1754326"/>
              </a:xfrm>
              <a:prstGeom prst="rect">
                <a:avLst/>
              </a:prstGeom>
              <a:blipFill>
                <a:blip r:embed="rId6"/>
                <a:stretch>
                  <a:fillRect l="-615" t="-2091" r="-3893" b="-48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9320AF78-1FC6-19F4-8E0B-8A414F20C6DE}"/>
                  </a:ext>
                </a:extLst>
              </p:cNvPr>
              <p:cNvSpPr txBox="1"/>
              <p:nvPr/>
            </p:nvSpPr>
            <p:spPr>
              <a:xfrm>
                <a:off x="7550673" y="2509574"/>
                <a:ext cx="3163047" cy="1754326"/>
              </a:xfrm>
              <a:prstGeom prst="rect">
                <a:avLst/>
              </a:prstGeom>
              <a:noFill/>
            </p:spPr>
            <p:txBody>
              <a:bodyPr wrap="square" rtlCol="0">
                <a:spAutoFit/>
              </a:bodyPr>
              <a:lstStyle/>
              <a:p>
                <a:pPr algn="ctr"/>
                <a:r>
                  <a:rPr lang="en-US" b="1"/>
                  <a:t>shallow</a:t>
                </a:r>
                <a:r>
                  <a:rPr lang="en-US"/>
                  <a:t> waveguide</a:t>
                </a:r>
              </a:p>
              <a:p>
                <a:pPr algn="ctr"/>
                <a:endParaRPr lang="en-US"/>
              </a:p>
              <a:p>
                <a:pPr algn="ctr"/>
                <a:r>
                  <a:rPr lang="en-US" b="1"/>
                  <a:t>neff_TE0 vs </a:t>
                </a:r>
                <a14:m>
                  <m:oMath xmlns:m="http://schemas.openxmlformats.org/officeDocument/2006/math">
                    <m:r>
                      <a:rPr lang="es-ES" b="1" i="1">
                        <a:latin typeface="Cambria Math" panose="02040503050406030204" pitchFamily="18" charset="0"/>
                      </a:rPr>
                      <m:t>𝝀</m:t>
                    </m:r>
                  </m:oMath>
                </a14:m>
                <a:r>
                  <a:rPr lang="en-US" b="1"/>
                  <a:t> </a:t>
                </a:r>
                <a:r>
                  <a:rPr lang="en-US"/>
                  <a:t>with the second-degree polynomial fit  </a:t>
                </a:r>
              </a:p>
              <a:p>
                <a:pPr algn="ctr"/>
                <a:r>
                  <a:rPr lang="en-US"/>
                  <a:t>&amp; </a:t>
                </a:r>
                <a:r>
                  <a:rPr lang="en-US" b="1"/>
                  <a:t>neff_TM0 vs </a:t>
                </a:r>
                <a14:m>
                  <m:oMath xmlns:m="http://schemas.openxmlformats.org/officeDocument/2006/math">
                    <m:r>
                      <a:rPr lang="es-ES" b="1" i="1">
                        <a:latin typeface="Cambria Math" panose="02040503050406030204" pitchFamily="18" charset="0"/>
                      </a:rPr>
                      <m:t>𝝀</m:t>
                    </m:r>
                  </m:oMath>
                </a14:m>
                <a:r>
                  <a:rPr lang="en-US" b="1"/>
                  <a:t> </a:t>
                </a:r>
                <a:r>
                  <a:rPr lang="en-US"/>
                  <a:t>with the second-degree polynomial fit </a:t>
                </a:r>
              </a:p>
            </p:txBody>
          </p:sp>
        </mc:Choice>
        <mc:Fallback xmlns="">
          <p:sp>
            <p:nvSpPr>
              <p:cNvPr id="10" name="CuadroTexto 9">
                <a:extLst>
                  <a:ext uri="{FF2B5EF4-FFF2-40B4-BE49-F238E27FC236}">
                    <a16:creationId xmlns:a16="http://schemas.microsoft.com/office/drawing/2014/main" id="{9320AF78-1FC6-19F4-8E0B-8A414F20C6DE}"/>
                  </a:ext>
                </a:extLst>
              </p:cNvPr>
              <p:cNvSpPr txBox="1">
                <a:spLocks noRot="1" noChangeAspect="1" noMove="1" noResize="1" noEditPoints="1" noAdjustHandles="1" noChangeArrowheads="1" noChangeShapeType="1" noTextEdit="1"/>
              </p:cNvSpPr>
              <p:nvPr/>
            </p:nvSpPr>
            <p:spPr>
              <a:xfrm>
                <a:off x="7550673" y="2509574"/>
                <a:ext cx="3163047" cy="1754326"/>
              </a:xfrm>
              <a:prstGeom prst="rect">
                <a:avLst/>
              </a:prstGeom>
              <a:blipFill>
                <a:blip r:embed="rId7"/>
                <a:stretch>
                  <a:fillRect l="-385" t="-2091" b="-4878"/>
                </a:stretch>
              </a:blipFill>
            </p:spPr>
            <p:txBody>
              <a:bodyPr/>
              <a:lstStyle/>
              <a:p>
                <a:r>
                  <a:rPr lang="en-US">
                    <a:noFill/>
                  </a:rPr>
                  <a:t> </a:t>
                </a:r>
              </a:p>
            </p:txBody>
          </p:sp>
        </mc:Fallback>
      </mc:AlternateContent>
      <p:sp>
        <p:nvSpPr>
          <p:cNvPr id="8" name="CuadroTexto 7">
            <a:extLst>
              <a:ext uri="{FF2B5EF4-FFF2-40B4-BE49-F238E27FC236}">
                <a16:creationId xmlns:a16="http://schemas.microsoft.com/office/drawing/2014/main" id="{0F38E924-A0E7-A039-C837-916BA77FE89B}"/>
              </a:ext>
            </a:extLst>
          </p:cNvPr>
          <p:cNvSpPr txBox="1"/>
          <p:nvPr/>
        </p:nvSpPr>
        <p:spPr>
          <a:xfrm>
            <a:off x="6347361" y="4498713"/>
            <a:ext cx="3497030" cy="276999"/>
          </a:xfrm>
          <a:prstGeom prst="rect">
            <a:avLst/>
          </a:prstGeom>
          <a:noFill/>
        </p:spPr>
        <p:txBody>
          <a:bodyPr wrap="square">
            <a:spAutoFit/>
          </a:bodyPr>
          <a:lstStyle/>
          <a:p>
            <a:pPr algn="r"/>
            <a:r>
              <a:rPr lang="en-US" sz="1200" b="1">
                <a:solidFill>
                  <a:schemeClr val="tx1"/>
                </a:solidFill>
                <a:latin typeface="Arial" panose="020B0604020202020204" pitchFamily="34" charset="0"/>
                <a:cs typeface="Arial" panose="020B0604020202020204" pitchFamily="34" charset="0"/>
              </a:rPr>
              <a:t>slab: 150nm</a:t>
            </a:r>
            <a:endParaRPr lang="en-US" sz="1200">
              <a:solidFill>
                <a:schemeClr val="tx1"/>
              </a:solidFill>
              <a:latin typeface="Arial" panose="020B0604020202020204" pitchFamily="34" charset="0"/>
              <a:cs typeface="Arial" panose="020B0604020202020204" pitchFamily="34" charset="0"/>
            </a:endParaRPr>
          </a:p>
        </p:txBody>
      </p:sp>
      <p:pic>
        <p:nvPicPr>
          <p:cNvPr id="11" name="Imagen 10">
            <a:extLst>
              <a:ext uri="{FF2B5EF4-FFF2-40B4-BE49-F238E27FC236}">
                <a16:creationId xmlns:a16="http://schemas.microsoft.com/office/drawing/2014/main" id="{D91C02AB-A42D-2456-BFA7-24979BD84AC8}"/>
              </a:ext>
            </a:extLst>
          </p:cNvPr>
          <p:cNvPicPr>
            <a:picLocks noChangeAspect="1"/>
          </p:cNvPicPr>
          <p:nvPr/>
        </p:nvPicPr>
        <p:blipFill>
          <a:blip r:embed="rId8"/>
          <a:stretch>
            <a:fillRect/>
          </a:stretch>
        </p:blipFill>
        <p:spPr>
          <a:xfrm>
            <a:off x="1324796" y="1483394"/>
            <a:ext cx="4055847" cy="3203838"/>
          </a:xfrm>
          <a:prstGeom prst="rect">
            <a:avLst/>
          </a:prstGeom>
        </p:spPr>
      </p:pic>
      <p:pic>
        <p:nvPicPr>
          <p:cNvPr id="13" name="Imagen 12">
            <a:extLst>
              <a:ext uri="{FF2B5EF4-FFF2-40B4-BE49-F238E27FC236}">
                <a16:creationId xmlns:a16="http://schemas.microsoft.com/office/drawing/2014/main" id="{891F98FB-B484-70F5-F3FF-798396EC0C3F}"/>
              </a:ext>
            </a:extLst>
          </p:cNvPr>
          <p:cNvPicPr>
            <a:picLocks noChangeAspect="1"/>
          </p:cNvPicPr>
          <p:nvPr/>
        </p:nvPicPr>
        <p:blipFill>
          <a:blip r:embed="rId9"/>
          <a:stretch>
            <a:fillRect/>
          </a:stretch>
        </p:blipFill>
        <p:spPr>
          <a:xfrm>
            <a:off x="7061152" y="1483394"/>
            <a:ext cx="4107901" cy="3244956"/>
          </a:xfrm>
          <a:prstGeom prst="rect">
            <a:avLst/>
          </a:prstGeom>
        </p:spPr>
      </p:pic>
      <p:cxnSp>
        <p:nvCxnSpPr>
          <p:cNvPr id="4" name="Conector recto de flecha 3">
            <a:extLst>
              <a:ext uri="{FF2B5EF4-FFF2-40B4-BE49-F238E27FC236}">
                <a16:creationId xmlns:a16="http://schemas.microsoft.com/office/drawing/2014/main" id="{E775A901-5946-C723-E34C-A6D99016F16A}"/>
              </a:ext>
            </a:extLst>
          </p:cNvPr>
          <p:cNvCxnSpPr/>
          <p:nvPr/>
        </p:nvCxnSpPr>
        <p:spPr>
          <a:xfrm>
            <a:off x="4152900" y="6001966"/>
            <a:ext cx="3886200"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60544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0D313-8087-796B-C57F-30C36464B4C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8B863B5-FD87-0547-0018-A97F1D515A53}"/>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#4 – Waveguide compact model</a:t>
            </a:r>
            <a:br>
              <a:rPr lang="en-US" b="0"/>
            </a:br>
            <a:endParaRPr lang="en-US" sz="2500" b="0">
              <a:latin typeface="+mj-lt"/>
              <a:cs typeface="Lucida Sans"/>
            </a:endParaRPr>
          </a:p>
        </p:txBody>
      </p:sp>
      <p:pic>
        <p:nvPicPr>
          <p:cNvPr id="83" name="Gráfico 82">
            <a:extLst>
              <a:ext uri="{FF2B5EF4-FFF2-40B4-BE49-F238E27FC236}">
                <a16:creationId xmlns:a16="http://schemas.microsoft.com/office/drawing/2014/main" id="{4A225ED5-79FA-B9A3-5112-10349A9289F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36F6D0E2-79DD-3D91-6433-471F0A4D2DF7}"/>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3" name="Marcador de pie de página 2">
            <a:extLst>
              <a:ext uri="{FF2B5EF4-FFF2-40B4-BE49-F238E27FC236}">
                <a16:creationId xmlns:a16="http://schemas.microsoft.com/office/drawing/2014/main" id="{D132F379-468C-C85A-0144-FEB76BE67A94}"/>
              </a:ext>
            </a:extLst>
          </p:cNvPr>
          <p:cNvSpPr>
            <a:spLocks noGrp="1"/>
          </p:cNvSpPr>
          <p:nvPr>
            <p:ph type="ftr" sz="quarter" idx="5"/>
          </p:nvPr>
        </p:nvSpPr>
        <p:spPr/>
        <p:txBody>
          <a:bodyPr/>
          <a:lstStyle/>
          <a:p>
            <a:pPr marL="12700">
              <a:spcBef>
                <a:spcPts val="15"/>
              </a:spcBef>
            </a:pPr>
            <a:r>
              <a:rPr lang="es-ES" spc="-5"/>
              <a:t>LAB 1.0 WAVEGUIDES</a:t>
            </a:r>
          </a:p>
        </p:txBody>
      </p:sp>
      <p:graphicFrame>
        <p:nvGraphicFramePr>
          <p:cNvPr id="4" name="Tabla 3">
            <a:extLst>
              <a:ext uri="{FF2B5EF4-FFF2-40B4-BE49-F238E27FC236}">
                <a16:creationId xmlns:a16="http://schemas.microsoft.com/office/drawing/2014/main" id="{CA09DCBC-BA0A-68E1-A77E-721A68B333E3}"/>
              </a:ext>
            </a:extLst>
          </p:cNvPr>
          <p:cNvGraphicFramePr>
            <a:graphicFrameLocks noGrp="1"/>
          </p:cNvGraphicFramePr>
          <p:nvPr>
            <p:extLst>
              <p:ext uri="{D42A27DB-BD31-4B8C-83A1-F6EECF244321}">
                <p14:modId xmlns:p14="http://schemas.microsoft.com/office/powerpoint/2010/main" val="3573140819"/>
              </p:ext>
            </p:extLst>
          </p:nvPr>
        </p:nvGraphicFramePr>
        <p:xfrm>
          <a:off x="800021" y="1065255"/>
          <a:ext cx="10384970" cy="2939140"/>
        </p:xfrm>
        <a:graphic>
          <a:graphicData uri="http://schemas.openxmlformats.org/drawingml/2006/table">
            <a:tbl>
              <a:tblPr firstRow="1" bandRow="1">
                <a:tableStyleId>{21E4AEA4-8DFA-4A89-87EB-49C32662AFE0}</a:tableStyleId>
              </a:tblPr>
              <a:tblGrid>
                <a:gridCol w="2076994">
                  <a:extLst>
                    <a:ext uri="{9D8B030D-6E8A-4147-A177-3AD203B41FA5}">
                      <a16:colId xmlns:a16="http://schemas.microsoft.com/office/drawing/2014/main" val="3532531895"/>
                    </a:ext>
                  </a:extLst>
                </a:gridCol>
                <a:gridCol w="2076994">
                  <a:extLst>
                    <a:ext uri="{9D8B030D-6E8A-4147-A177-3AD203B41FA5}">
                      <a16:colId xmlns:a16="http://schemas.microsoft.com/office/drawing/2014/main" val="330153108"/>
                    </a:ext>
                  </a:extLst>
                </a:gridCol>
                <a:gridCol w="2076994">
                  <a:extLst>
                    <a:ext uri="{9D8B030D-6E8A-4147-A177-3AD203B41FA5}">
                      <a16:colId xmlns:a16="http://schemas.microsoft.com/office/drawing/2014/main" val="1105818495"/>
                    </a:ext>
                  </a:extLst>
                </a:gridCol>
                <a:gridCol w="2076994">
                  <a:extLst>
                    <a:ext uri="{9D8B030D-6E8A-4147-A177-3AD203B41FA5}">
                      <a16:colId xmlns:a16="http://schemas.microsoft.com/office/drawing/2014/main" val="2842486359"/>
                    </a:ext>
                  </a:extLst>
                </a:gridCol>
                <a:gridCol w="2076994">
                  <a:extLst>
                    <a:ext uri="{9D8B030D-6E8A-4147-A177-3AD203B41FA5}">
                      <a16:colId xmlns:a16="http://schemas.microsoft.com/office/drawing/2014/main" val="3819757152"/>
                    </a:ext>
                  </a:extLst>
                </a:gridCol>
              </a:tblGrid>
              <a:tr h="587828">
                <a:tc rowSpan="2">
                  <a:txBody>
                    <a:bodyPr/>
                    <a:lstStyle/>
                    <a:p>
                      <a:pPr algn="ctr"/>
                      <a:endParaRPr lang="es-ES"/>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lang="es-ES" b="1">
                          <a:solidFill>
                            <a:schemeClr val="tx1"/>
                          </a:solidFill>
                        </a:rPr>
                        <a:t>DEEP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endParaRPr lang="es-ES"/>
                    </a:p>
                  </a:txBody>
                  <a:tcPr/>
                </a:tc>
                <a:tc gridSpan="2">
                  <a:txBody>
                    <a:bodyPr/>
                    <a:lstStyle/>
                    <a:p>
                      <a:pPr algn="ctr"/>
                      <a:r>
                        <a:rPr lang="es-ES" b="1">
                          <a:solidFill>
                            <a:schemeClr val="tx1"/>
                          </a:solidFill>
                        </a:rPr>
                        <a:t>SHALLOW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endParaRPr lang="es-ES"/>
                    </a:p>
                  </a:txBody>
                  <a:tcPr/>
                </a:tc>
                <a:extLst>
                  <a:ext uri="{0D108BD9-81ED-4DB2-BD59-A6C34878D82A}">
                    <a16:rowId xmlns:a16="http://schemas.microsoft.com/office/drawing/2014/main" val="2760417488"/>
                  </a:ext>
                </a:extLst>
              </a:tr>
              <a:tr h="587828">
                <a:tc vMerge="1">
                  <a:txBody>
                    <a:bodyPr/>
                    <a:lstStyle/>
                    <a:p>
                      <a:endParaRPr lang="es-ES"/>
                    </a:p>
                  </a:txBody>
                  <a:tcPr/>
                </a:tc>
                <a:tc>
                  <a:txBody>
                    <a:bodyPr/>
                    <a:lstStyle/>
                    <a:p>
                      <a:pPr algn="ctr"/>
                      <a:r>
                        <a:rPr lang="es-ES"/>
                        <a:t>TE0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s-ES"/>
                        <a:t>TM0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s-ES"/>
                        <a:t>TE0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s-ES"/>
                        <a:t>TM0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198806584"/>
                  </a:ext>
                </a:extLst>
              </a:tr>
              <a:tr h="587828">
                <a:tc>
                  <a:txBody>
                    <a:bodyPr/>
                    <a:lstStyle/>
                    <a:p>
                      <a:pPr algn="ctr"/>
                      <a:r>
                        <a:rPr lang="es-ES" b="1"/>
                        <a:t>n_eff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s-ES"/>
                        <a:t>1,6049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s-ES"/>
                        <a:t>1,5271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s-ES"/>
                        <a:t>1,6461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s-ES"/>
                        <a:t>1,5660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008272723"/>
                  </a:ext>
                </a:extLst>
              </a:tr>
              <a:tr h="587828">
                <a:tc>
                  <a:txBody>
                    <a:bodyPr/>
                    <a:lstStyle/>
                    <a:p>
                      <a:pPr algn="ctr"/>
                      <a:r>
                        <a:rPr lang="es-ES" b="1"/>
                        <a:t>n_g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s-ES"/>
                        <a:t>1,9399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s-ES"/>
                        <a:t>1,7720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s-ES"/>
                        <a:t>1,9433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s-ES"/>
                        <a:t>1,7821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356299721"/>
                  </a:ext>
                </a:extLst>
              </a:tr>
              <a:tr h="587828">
                <a:tc>
                  <a:txBody>
                    <a:bodyPr/>
                    <a:lstStyle/>
                    <a:p>
                      <a:pPr algn="ctr"/>
                      <a:r>
                        <a:rPr lang="es-ES" b="1" dirty="0"/>
                        <a:t>D (s^2/m)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s-ES"/>
                        <a:t>-1,0064e-15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s-ES"/>
                        <a:t>-1,5792e-15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s-ES"/>
                        <a:t>-9,0219e-16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s-ES" dirty="0"/>
                        <a:t>-1,0941e-15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651720228"/>
                  </a:ext>
                </a:extLst>
              </a:tr>
            </a:tbl>
          </a:graphicData>
        </a:graphic>
      </p:graphicFrame>
      <p:sp>
        <p:nvSpPr>
          <p:cNvPr id="2" name="CuadroTexto 1">
            <a:extLst>
              <a:ext uri="{FF2B5EF4-FFF2-40B4-BE49-F238E27FC236}">
                <a16:creationId xmlns:a16="http://schemas.microsoft.com/office/drawing/2014/main" id="{0BA35F66-F648-4DB3-C002-010AF5C4B0D7}"/>
              </a:ext>
            </a:extLst>
          </p:cNvPr>
          <p:cNvSpPr txBox="1"/>
          <p:nvPr/>
        </p:nvSpPr>
        <p:spPr>
          <a:xfrm>
            <a:off x="583019" y="4344896"/>
            <a:ext cx="11199971" cy="1569660"/>
          </a:xfrm>
          <a:prstGeom prst="rect">
            <a:avLst/>
          </a:prstGeom>
          <a:solidFill>
            <a:schemeClr val="bg1">
              <a:lumMod val="95000"/>
            </a:schemeClr>
          </a:solidFill>
          <a:ln w="28575">
            <a:solidFill>
              <a:srgbClr val="E0700D"/>
            </a:solidFill>
          </a:ln>
        </p:spPr>
        <p:txBody>
          <a:bodyPr wrap="square" rtlCol="0">
            <a:spAutoFit/>
          </a:bodyPr>
          <a:lstStyle/>
          <a:p>
            <a:r>
              <a:rPr lang="es-ES" sz="1200" dirty="0">
                <a:latin typeface="Arial" panose="020B0604020202020204" pitchFamily="34" charset="0"/>
                <a:cs typeface="Arial" panose="020B0604020202020204" pitchFamily="34" charset="0"/>
              </a:rPr>
              <a:t>Respecto a las graficas de los modos TE0 y TM0, tanto en la </a:t>
            </a:r>
            <a:r>
              <a:rPr lang="es-ES" sz="1200" dirty="0" err="1">
                <a:latin typeface="Arial" panose="020B0604020202020204" pitchFamily="34" charset="0"/>
                <a:cs typeface="Arial" panose="020B0604020202020204" pitchFamily="34" charset="0"/>
              </a:rPr>
              <a:t>guÍa</a:t>
            </a:r>
            <a:r>
              <a:rPr lang="es-ES" sz="1200" dirty="0">
                <a:latin typeface="Arial" panose="020B0604020202020204" pitchFamily="34" charset="0"/>
                <a:cs typeface="Arial" panose="020B0604020202020204" pitchFamily="34" charset="0"/>
              </a:rPr>
              <a:t> Deep como en la </a:t>
            </a:r>
            <a:r>
              <a:rPr lang="es-ES" sz="1200" dirty="0" err="1">
                <a:latin typeface="Arial" panose="020B0604020202020204" pitchFamily="34" charset="0"/>
                <a:cs typeface="Arial" panose="020B0604020202020204" pitchFamily="34" charset="0"/>
              </a:rPr>
              <a:t>Shallow</a:t>
            </a:r>
            <a:r>
              <a:rPr lang="es-ES" sz="1200" dirty="0">
                <a:latin typeface="Arial" panose="020B0604020202020204" pitchFamily="34" charset="0"/>
                <a:cs typeface="Arial" panose="020B0604020202020204" pitchFamily="34" charset="0"/>
              </a:rPr>
              <a:t>, ambas tienen los mismos comportamientos y las mismas pendientes, a pesar de que la guía </a:t>
            </a:r>
            <a:r>
              <a:rPr lang="es-ES" sz="1200" dirty="0" err="1">
                <a:latin typeface="Arial" panose="020B0604020202020204" pitchFamily="34" charset="0"/>
                <a:cs typeface="Arial" panose="020B0604020202020204" pitchFamily="34" charset="0"/>
              </a:rPr>
              <a:t>Shallow</a:t>
            </a:r>
            <a:r>
              <a:rPr lang="es-ES" sz="1200" dirty="0">
                <a:latin typeface="Arial" panose="020B0604020202020204" pitchFamily="34" charset="0"/>
                <a:cs typeface="Arial" panose="020B0604020202020204" pitchFamily="34" charset="0"/>
              </a:rPr>
              <a:t> tiene un indice efectivo un poco mayor.</a:t>
            </a:r>
          </a:p>
          <a:p>
            <a:endParaRPr lang="es-ES" sz="1200"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En cuanto a los parámetros obtenidos:</a:t>
            </a:r>
          </a:p>
          <a:p>
            <a:r>
              <a:rPr lang="es-ES" sz="1200" dirty="0">
                <a:latin typeface="Arial" panose="020B0604020202020204" pitchFamily="34" charset="0"/>
                <a:cs typeface="Arial" panose="020B0604020202020204" pitchFamily="34" charset="0"/>
              </a:rPr>
              <a:t>	-El indice de grupo es superior al indice efectivo, característico en estas guías de onda. Donde cuanto mas difiera el indice de grupo del indice 	efectivo nos indica cuanto varía la longitud de onda</a:t>
            </a:r>
          </a:p>
          <a:p>
            <a:r>
              <a:rPr lang="es-ES" sz="1200" dirty="0">
                <a:latin typeface="Arial" panose="020B0604020202020204" pitchFamily="34" charset="0"/>
                <a:cs typeface="Arial" panose="020B0604020202020204" pitchFamily="34" charset="0"/>
              </a:rPr>
              <a:t>	-La dispersión, siempre con valor negativo, ya que es dispersión normal, nos indica que el pulso se va a ensanchar en el dominio temporal. </a:t>
            </a:r>
          </a:p>
          <a:p>
            <a:pPr algn="just"/>
            <a:endParaRPr lang="en-US" sz="1200" u="sng"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411906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#5 – Bend waveguide radius vs. loss – deep</a:t>
            </a:r>
            <a:br>
              <a:rPr lang="en-US" sz="2500" dirty="0"/>
            </a:br>
            <a:r>
              <a:rPr lang="en-US" b="0" dirty="0"/>
              <a:t>Find  neff_TE0 for </a:t>
            </a:r>
            <a:r>
              <a:rPr lang="en-US" b="0" dirty="0" err="1"/>
              <a:t>wvl</a:t>
            </a:r>
            <a:r>
              <a:rPr lang="en-US" b="0" dirty="0"/>
              <a:t> 1.55 µm, width 1.2 µm for R=25,50,75,100, 125,150 µm</a:t>
            </a: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FDE3A197-9508-F9F1-1FEB-FF883D78C151}"/>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which is the safe radius?, consider safe means less than 0.1 dB/90º.</a:t>
            </a:r>
            <a:endParaRPr lang="en-US" sz="1200" u="sng"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Como se </a:t>
            </a:r>
            <a:r>
              <a:rPr lang="en-US" sz="1200" dirty="0" err="1">
                <a:latin typeface="Arial" panose="020B0604020202020204" pitchFamily="34" charset="0"/>
                <a:cs typeface="Arial" panose="020B0604020202020204" pitchFamily="34" charset="0"/>
              </a:rPr>
              <a:t>observa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primera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gráfica</a:t>
            </a:r>
            <a:r>
              <a:rPr lang="es-ES" sz="1200" dirty="0">
                <a:latin typeface="Arial" panose="020B0604020202020204" pitchFamily="34" charset="0"/>
                <a:cs typeface="Arial" panose="020B0604020202020204" pitchFamily="34" charset="0"/>
              </a:rPr>
              <a:t>, el radio seguro (donde la pérdida total es menor a 0.1 dB) es aproximadamente 35 µm o mayor. Para radios más pequeños, la pérdida total aumenta significativamente y supera el umbral de 0.1 dB, de forma que para radios mayores siempre estaremos dentro de un radio seguro</a:t>
            </a:r>
          </a:p>
          <a:p>
            <a:pPr algn="just"/>
            <a:r>
              <a:rPr lang="es-ES" sz="1200" dirty="0">
                <a:latin typeface="Arial" panose="020B0604020202020204" pitchFamily="34" charset="0"/>
                <a:cs typeface="Arial" panose="020B0604020202020204" pitchFamily="34" charset="0"/>
              </a:rPr>
              <a:t>Al curvar la fibra (Radio de curvatura pequeño), generamos mas pérdidas, ya que hace que el modo interactúe con la cubierta , alterando la velocidad de la luz y el indice efectivo. De forma que al aumentar el radio de curvatura, el modo recupera el confinamiento y el indice efectivo se estabiliza en el valor de la guía</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B5FE8755-B0BF-14B7-64E6-4BBB2560B9A6}"/>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331EBD86-BA6C-68C9-2D38-FC8CFBA7ADC4}"/>
              </a:ext>
            </a:extLst>
          </p:cNvPr>
          <p:cNvSpPr txBox="1"/>
          <p:nvPr/>
        </p:nvSpPr>
        <p:spPr>
          <a:xfrm>
            <a:off x="1510837" y="2648168"/>
            <a:ext cx="3046509" cy="1200329"/>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Total Loss (dB/90º) vs R &amp; neff_TE0 vs R</a:t>
            </a:r>
          </a:p>
        </p:txBody>
      </p:sp>
      <p:pic>
        <p:nvPicPr>
          <p:cNvPr id="24" name="Imagen 23">
            <a:extLst>
              <a:ext uri="{FF2B5EF4-FFF2-40B4-BE49-F238E27FC236}">
                <a16:creationId xmlns:a16="http://schemas.microsoft.com/office/drawing/2014/main" id="{D97C7547-4F31-D9F8-AD2C-1A92C5875A5C}"/>
              </a:ext>
            </a:extLst>
          </p:cNvPr>
          <p:cNvPicPr>
            <a:picLocks noChangeAspect="1"/>
          </p:cNvPicPr>
          <p:nvPr/>
        </p:nvPicPr>
        <p:blipFill>
          <a:blip r:embed="rId5"/>
          <a:stretch>
            <a:fillRect/>
          </a:stretch>
        </p:blipFill>
        <p:spPr>
          <a:xfrm>
            <a:off x="1316380" y="1457460"/>
            <a:ext cx="4072840" cy="3217261"/>
          </a:xfrm>
          <a:prstGeom prst="rect">
            <a:avLst/>
          </a:prstGeom>
        </p:spPr>
      </p:pic>
      <p:pic>
        <p:nvPicPr>
          <p:cNvPr id="26" name="Imagen 25">
            <a:extLst>
              <a:ext uri="{FF2B5EF4-FFF2-40B4-BE49-F238E27FC236}">
                <a16:creationId xmlns:a16="http://schemas.microsoft.com/office/drawing/2014/main" id="{FBA21899-B439-DB1A-E69B-05E7B1BB926F}"/>
              </a:ext>
            </a:extLst>
          </p:cNvPr>
          <p:cNvPicPr>
            <a:picLocks noChangeAspect="1"/>
          </p:cNvPicPr>
          <p:nvPr/>
        </p:nvPicPr>
        <p:blipFill>
          <a:blip r:embed="rId6"/>
          <a:stretch>
            <a:fillRect/>
          </a:stretch>
        </p:blipFill>
        <p:spPr>
          <a:xfrm>
            <a:off x="6967234" y="1481236"/>
            <a:ext cx="4248758" cy="3169708"/>
          </a:xfrm>
          <a:prstGeom prst="rect">
            <a:avLst/>
          </a:prstGeom>
        </p:spPr>
      </p:pic>
    </p:spTree>
    <p:extLst>
      <p:ext uri="{BB962C8B-B14F-4D97-AF65-F5344CB8AC3E}">
        <p14:creationId xmlns:p14="http://schemas.microsoft.com/office/powerpoint/2010/main" val="36604382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9C604-9E29-CB9A-E691-E1D3EEA094C3}"/>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035F9BF-68AF-32E5-A559-2184856198B0}"/>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#5 – Bend waveguide radius vs. loss – deep</a:t>
            </a:r>
            <a:br>
              <a:rPr lang="en-US" sz="2500" dirty="0"/>
            </a:br>
            <a:r>
              <a:rPr lang="en-US" b="0" dirty="0"/>
              <a:t>Find  neff_TE0 for </a:t>
            </a:r>
            <a:r>
              <a:rPr lang="en-US" b="0" dirty="0" err="1"/>
              <a:t>wvl</a:t>
            </a:r>
            <a:r>
              <a:rPr lang="en-US" b="0" dirty="0"/>
              <a:t> 1.55 µm, width 1.2 µm for R=25,50,75,100, 125,150 µm</a:t>
            </a: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4908D0E6-A667-9071-6204-11EF99CD22C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D5512C49-823E-6EEF-2ECF-7580A2718801}"/>
              </a:ext>
            </a:extLst>
          </p:cNvPr>
          <p:cNvSpPr>
            <a:spLocks noGrp="1"/>
          </p:cNvSpPr>
          <p:nvPr>
            <p:ph type="sldNum" sz="quarter" idx="7"/>
          </p:nvPr>
        </p:nvSpPr>
        <p:spPr/>
        <p:txBody>
          <a:bodyPr/>
          <a:lstStyle/>
          <a:p>
            <a:fld id="{B6F15528-21DE-4FAA-801E-634DDDAF4B2B}" type="slidenum">
              <a:rPr lang="es-ES" smtClean="0"/>
              <a:t>15</a:t>
            </a:fld>
            <a:endParaRPr lang="es-ES"/>
          </a:p>
        </p:txBody>
      </p:sp>
      <p:sp>
        <p:nvSpPr>
          <p:cNvPr id="3" name="Marcador de pie de página 2">
            <a:extLst>
              <a:ext uri="{FF2B5EF4-FFF2-40B4-BE49-F238E27FC236}">
                <a16:creationId xmlns:a16="http://schemas.microsoft.com/office/drawing/2014/main" id="{36A7D3B3-4AE2-45E0-E40C-ECE735727221}"/>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A1306635-81F8-153E-A0B8-193BA19B38DA}"/>
              </a:ext>
            </a:extLst>
          </p:cNvPr>
          <p:cNvSpPr txBox="1"/>
          <p:nvPr/>
        </p:nvSpPr>
        <p:spPr>
          <a:xfrm>
            <a:off x="609441" y="4860334"/>
            <a:ext cx="11199971" cy="830997"/>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err="1">
                <a:latin typeface="Arial" panose="020B0604020202020204" pitchFamily="34" charset="0"/>
                <a:cs typeface="Arial" panose="020B0604020202020204" pitchFamily="34" charset="0"/>
              </a:rPr>
              <a:t>Además</a:t>
            </a:r>
            <a:r>
              <a:rPr lang="en-US" sz="1200" dirty="0">
                <a:latin typeface="Arial" panose="020B0604020202020204" pitchFamily="34" charset="0"/>
                <a:cs typeface="Arial" panose="020B0604020202020204" pitchFamily="34" charset="0"/>
              </a:rPr>
              <a:t>, </a:t>
            </a:r>
            <a:r>
              <a:rPr lang="es-ES" sz="1200" dirty="0">
                <a:latin typeface="Arial" panose="020B0604020202020204" pitchFamily="34" charset="0"/>
                <a:cs typeface="Arial" panose="020B0604020202020204" pitchFamily="34" charset="0"/>
              </a:rPr>
              <a:t>obtuvimos esta gráfica la cual demuestra que la pérdida por </a:t>
            </a:r>
            <a:r>
              <a:rPr lang="es-ES" sz="1200" dirty="0" err="1">
                <a:latin typeface="Arial" panose="020B0604020202020204" pitchFamily="34" charset="0"/>
                <a:cs typeface="Arial" panose="020B0604020202020204" pitchFamily="34" charset="0"/>
              </a:rPr>
              <a:t>mode-mismatch</a:t>
            </a:r>
            <a:r>
              <a:rPr lang="es-ES" sz="1200" dirty="0">
                <a:latin typeface="Arial" panose="020B0604020202020204" pitchFamily="34" charset="0"/>
                <a:cs typeface="Arial" panose="020B0604020202020204" pitchFamily="34" charset="0"/>
              </a:rPr>
              <a:t> (Desajuste de modo) disminuye cuando aumenta el radio de curvatura. Esto ocurre porque una curvatura más suave provoca menor perturbación del modo, haciendo que el modo de la guía curvada sea más parecido al de la guía recta. Por tanto, los radios de curvatura grandes reducen las pérdidas en guías de onda curvadas.</a:t>
            </a: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D0FC7C4F-DB35-062A-9F50-BA5B0A3E2A1D}"/>
              </a:ext>
            </a:extLst>
          </p:cNvPr>
          <p:cNvSpPr/>
          <p:nvPr/>
        </p:nvSpPr>
        <p:spPr>
          <a:xfrm>
            <a:off x="3706238" y="1418373"/>
            <a:ext cx="462063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1B776CA8-03AC-3FE4-4506-E73F18CF0A6F}"/>
              </a:ext>
            </a:extLst>
          </p:cNvPr>
          <p:cNvPicPr>
            <a:picLocks noChangeAspect="1"/>
          </p:cNvPicPr>
          <p:nvPr/>
        </p:nvPicPr>
        <p:blipFill>
          <a:blip r:embed="rId5"/>
          <a:stretch>
            <a:fillRect/>
          </a:stretch>
        </p:blipFill>
        <p:spPr>
          <a:xfrm>
            <a:off x="3903526" y="1548136"/>
            <a:ext cx="4034243" cy="3127054"/>
          </a:xfrm>
          <a:prstGeom prst="rect">
            <a:avLst/>
          </a:prstGeom>
        </p:spPr>
      </p:pic>
    </p:spTree>
    <p:extLst>
      <p:ext uri="{BB962C8B-B14F-4D97-AF65-F5344CB8AC3E}">
        <p14:creationId xmlns:p14="http://schemas.microsoft.com/office/powerpoint/2010/main" val="35148265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7E444-57FD-6FF1-C64A-EFECCF595A6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AC660766-CF52-0CB1-4E65-E3E2241B75F2}"/>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spcBef>
                <a:spcPts val="100"/>
              </a:spcBef>
            </a:pPr>
            <a:r>
              <a:rPr lang="en-US" sz="2500"/>
              <a:t>EXTRA</a:t>
            </a:r>
            <a:br>
              <a:rPr lang="en-US" sz="2500" spc="-5">
                <a:latin typeface="+mj-lt"/>
                <a:cs typeface="Lucida Sans"/>
              </a:rPr>
            </a:br>
            <a:r>
              <a:rPr lang="en-US" b="0"/>
              <a:t>1. Repeat the LO.2. wavelength behavior simulations, considering the updated materials and dimensions.</a:t>
            </a:r>
            <a:endParaRPr lang="en-US" sz="2500" b="0">
              <a:latin typeface="+mj-lt"/>
              <a:cs typeface="Lucida Sans"/>
            </a:endParaRPr>
          </a:p>
        </p:txBody>
      </p:sp>
      <p:pic>
        <p:nvPicPr>
          <p:cNvPr id="83" name="Gráfico 82">
            <a:extLst>
              <a:ext uri="{FF2B5EF4-FFF2-40B4-BE49-F238E27FC236}">
                <a16:creationId xmlns:a16="http://schemas.microsoft.com/office/drawing/2014/main" id="{C5067286-32A4-5A63-755A-DDA33D2D817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EB2FE21B-B094-F423-532F-E1FA11798F5A}"/>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3" name="Marcador de pie de página 2">
            <a:extLst>
              <a:ext uri="{FF2B5EF4-FFF2-40B4-BE49-F238E27FC236}">
                <a16:creationId xmlns:a16="http://schemas.microsoft.com/office/drawing/2014/main" id="{2522C289-AE47-67CC-9F52-91FB9B92D6D3}"/>
              </a:ext>
            </a:extLst>
          </p:cNvPr>
          <p:cNvSpPr>
            <a:spLocks noGrp="1"/>
          </p:cNvSpPr>
          <p:nvPr>
            <p:ph type="ftr" sz="quarter" idx="5"/>
          </p:nvPr>
        </p:nvSpPr>
        <p:spPr/>
        <p:txBody>
          <a:bodyPr/>
          <a:lstStyle/>
          <a:p>
            <a:pPr marL="12700">
              <a:spcBef>
                <a:spcPts val="15"/>
              </a:spcBef>
            </a:pPr>
            <a:r>
              <a:rPr lang="es-ES" spc="-5"/>
              <a:t>LAB 1.0 WAVEGUIDES</a:t>
            </a:r>
          </a:p>
        </p:txBody>
      </p:sp>
      <p:sp>
        <p:nvSpPr>
          <p:cNvPr id="5" name="Rectángulo 4">
            <a:extLst>
              <a:ext uri="{FF2B5EF4-FFF2-40B4-BE49-F238E27FC236}">
                <a16:creationId xmlns:a16="http://schemas.microsoft.com/office/drawing/2014/main" id="{7716C907-0F76-E94D-1EA4-D909707F3438}"/>
              </a:ext>
            </a:extLst>
          </p:cNvPr>
          <p:cNvSpPr/>
          <p:nvPr/>
        </p:nvSpPr>
        <p:spPr>
          <a:xfrm>
            <a:off x="609441" y="2031617"/>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5ECAD052-70A5-DEC1-4490-D518F0F7464C}"/>
              </a:ext>
            </a:extLst>
          </p:cNvPr>
          <p:cNvSpPr/>
          <p:nvPr/>
        </p:nvSpPr>
        <p:spPr>
          <a:xfrm>
            <a:off x="6193651" y="2020731"/>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uadroTexto 3">
            <a:extLst>
              <a:ext uri="{FF2B5EF4-FFF2-40B4-BE49-F238E27FC236}">
                <a16:creationId xmlns:a16="http://schemas.microsoft.com/office/drawing/2014/main" id="{EAF4C741-E9A8-63F2-B02E-FC53834FE76B}"/>
              </a:ext>
            </a:extLst>
          </p:cNvPr>
          <p:cNvSpPr txBox="1"/>
          <p:nvPr/>
        </p:nvSpPr>
        <p:spPr>
          <a:xfrm>
            <a:off x="5712319" y="1161915"/>
            <a:ext cx="767362" cy="400110"/>
          </a:xfrm>
          <a:prstGeom prst="rect">
            <a:avLst/>
          </a:prstGeom>
          <a:noFill/>
        </p:spPr>
        <p:txBody>
          <a:bodyPr wrap="square" rtlCol="0">
            <a:spAutoFit/>
          </a:bodyPr>
          <a:lstStyle/>
          <a:p>
            <a:pPr algn="ctr"/>
            <a:r>
              <a:rPr lang="es-ES" sz="2000" b="1"/>
              <a:t>DEEP</a:t>
            </a:r>
            <a:endParaRPr lang="es-ES" b="1"/>
          </a:p>
        </p:txBody>
      </p:sp>
      <p:sp>
        <p:nvSpPr>
          <p:cNvPr id="7" name="CuadroTexto 6">
            <a:extLst>
              <a:ext uri="{FF2B5EF4-FFF2-40B4-BE49-F238E27FC236}">
                <a16:creationId xmlns:a16="http://schemas.microsoft.com/office/drawing/2014/main" id="{2DBE4EAD-4C02-D708-EF7C-EDA325754143}"/>
              </a:ext>
            </a:extLst>
          </p:cNvPr>
          <p:cNvSpPr txBox="1"/>
          <p:nvPr/>
        </p:nvSpPr>
        <p:spPr>
          <a:xfrm>
            <a:off x="2969039" y="1559065"/>
            <a:ext cx="767362" cy="400110"/>
          </a:xfrm>
          <a:prstGeom prst="rect">
            <a:avLst/>
          </a:prstGeom>
          <a:noFill/>
        </p:spPr>
        <p:txBody>
          <a:bodyPr wrap="square" rtlCol="0">
            <a:spAutoFit/>
          </a:bodyPr>
          <a:lstStyle/>
          <a:p>
            <a:pPr algn="ctr"/>
            <a:r>
              <a:rPr lang="es-ES" sz="2000" b="1" err="1"/>
              <a:t>SiNx</a:t>
            </a:r>
            <a:endParaRPr lang="es-ES" b="1"/>
          </a:p>
        </p:txBody>
      </p:sp>
      <p:sp>
        <p:nvSpPr>
          <p:cNvPr id="12" name="CuadroTexto 11">
            <a:extLst>
              <a:ext uri="{FF2B5EF4-FFF2-40B4-BE49-F238E27FC236}">
                <a16:creationId xmlns:a16="http://schemas.microsoft.com/office/drawing/2014/main" id="{E0961F68-EA95-32DB-4ED5-0167C6D13919}"/>
              </a:ext>
            </a:extLst>
          </p:cNvPr>
          <p:cNvSpPr txBox="1"/>
          <p:nvPr/>
        </p:nvSpPr>
        <p:spPr>
          <a:xfrm>
            <a:off x="8927959" y="1557715"/>
            <a:ext cx="767362" cy="400110"/>
          </a:xfrm>
          <a:prstGeom prst="rect">
            <a:avLst/>
          </a:prstGeom>
          <a:noFill/>
        </p:spPr>
        <p:txBody>
          <a:bodyPr wrap="square" rtlCol="0">
            <a:spAutoFit/>
          </a:bodyPr>
          <a:lstStyle/>
          <a:p>
            <a:pPr algn="ctr"/>
            <a:r>
              <a:rPr lang="es-ES" sz="2000" b="1"/>
              <a:t>Si</a:t>
            </a:r>
            <a:endParaRPr lang="es-ES" b="1"/>
          </a:p>
        </p:txBody>
      </p:sp>
      <p:pic>
        <p:nvPicPr>
          <p:cNvPr id="8" name="Imagen 7">
            <a:extLst>
              <a:ext uri="{FF2B5EF4-FFF2-40B4-BE49-F238E27FC236}">
                <a16:creationId xmlns:a16="http://schemas.microsoft.com/office/drawing/2014/main" id="{FB07A54A-D8FA-C4ED-E071-AA534B375761}"/>
              </a:ext>
            </a:extLst>
          </p:cNvPr>
          <p:cNvPicPr>
            <a:picLocks noChangeAspect="1"/>
          </p:cNvPicPr>
          <p:nvPr/>
        </p:nvPicPr>
        <p:blipFill>
          <a:blip r:embed="rId5"/>
          <a:stretch>
            <a:fillRect/>
          </a:stretch>
        </p:blipFill>
        <p:spPr>
          <a:xfrm>
            <a:off x="6479681" y="2177306"/>
            <a:ext cx="5130646" cy="2992877"/>
          </a:xfrm>
          <a:prstGeom prst="rect">
            <a:avLst/>
          </a:prstGeom>
        </p:spPr>
      </p:pic>
      <p:pic>
        <p:nvPicPr>
          <p:cNvPr id="10" name="Imagen 9">
            <a:extLst>
              <a:ext uri="{FF2B5EF4-FFF2-40B4-BE49-F238E27FC236}">
                <a16:creationId xmlns:a16="http://schemas.microsoft.com/office/drawing/2014/main" id="{03EA1643-A1F3-55DC-F5CF-848583EA1D41}"/>
              </a:ext>
            </a:extLst>
          </p:cNvPr>
          <p:cNvPicPr>
            <a:picLocks noChangeAspect="1"/>
          </p:cNvPicPr>
          <p:nvPr/>
        </p:nvPicPr>
        <p:blipFill>
          <a:blip r:embed="rId6"/>
          <a:stretch>
            <a:fillRect/>
          </a:stretch>
        </p:blipFill>
        <p:spPr>
          <a:xfrm>
            <a:off x="908725" y="2295157"/>
            <a:ext cx="5025147" cy="2931336"/>
          </a:xfrm>
          <a:prstGeom prst="rect">
            <a:avLst/>
          </a:prstGeom>
        </p:spPr>
      </p:pic>
    </p:spTree>
    <p:extLst>
      <p:ext uri="{BB962C8B-B14F-4D97-AF65-F5344CB8AC3E}">
        <p14:creationId xmlns:p14="http://schemas.microsoft.com/office/powerpoint/2010/main" val="7312983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A31BE-B73A-D4F2-680F-FC2A4E921543}"/>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E5843CE-2B99-FDE6-E878-7136E10C71FF}"/>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spcBef>
                <a:spcPts val="100"/>
              </a:spcBef>
            </a:pPr>
            <a:r>
              <a:rPr lang="en-US" sz="2500"/>
              <a:t>EXTRA</a:t>
            </a:r>
            <a:br>
              <a:rPr lang="en-US" sz="2500" spc="-5">
                <a:latin typeface="+mj-lt"/>
                <a:cs typeface="Lucida Sans"/>
              </a:rPr>
            </a:br>
            <a:r>
              <a:rPr lang="en-US" b="0"/>
              <a:t>1. Repeat the LO.2. wavelength behavior simulations, considering the updated materials and dimensions.</a:t>
            </a:r>
            <a:endParaRPr lang="en-US" sz="2500" b="0">
              <a:latin typeface="+mj-lt"/>
              <a:cs typeface="Lucida Sans"/>
            </a:endParaRPr>
          </a:p>
        </p:txBody>
      </p:sp>
      <p:pic>
        <p:nvPicPr>
          <p:cNvPr id="83" name="Gráfico 82">
            <a:extLst>
              <a:ext uri="{FF2B5EF4-FFF2-40B4-BE49-F238E27FC236}">
                <a16:creationId xmlns:a16="http://schemas.microsoft.com/office/drawing/2014/main" id="{031724E7-43AD-9FD3-9B1E-7D98FF37CCB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7995432-8960-7FA5-0CB4-20E719B2392A}"/>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3" name="Marcador de pie de página 2">
            <a:extLst>
              <a:ext uri="{FF2B5EF4-FFF2-40B4-BE49-F238E27FC236}">
                <a16:creationId xmlns:a16="http://schemas.microsoft.com/office/drawing/2014/main" id="{5869866A-7288-3A79-A3DA-B8224C7FB278}"/>
              </a:ext>
            </a:extLst>
          </p:cNvPr>
          <p:cNvSpPr>
            <a:spLocks noGrp="1"/>
          </p:cNvSpPr>
          <p:nvPr>
            <p:ph type="ftr" sz="quarter" idx="5"/>
          </p:nvPr>
        </p:nvSpPr>
        <p:spPr/>
        <p:txBody>
          <a:bodyPr/>
          <a:lstStyle/>
          <a:p>
            <a:pPr marL="12700">
              <a:spcBef>
                <a:spcPts val="15"/>
              </a:spcBef>
            </a:pPr>
            <a:r>
              <a:rPr lang="es-ES" spc="-5"/>
              <a:t>LAB 1.0 WAVEGUIDES</a:t>
            </a:r>
          </a:p>
        </p:txBody>
      </p:sp>
      <p:sp>
        <p:nvSpPr>
          <p:cNvPr id="5" name="Rectángulo 4">
            <a:extLst>
              <a:ext uri="{FF2B5EF4-FFF2-40B4-BE49-F238E27FC236}">
                <a16:creationId xmlns:a16="http://schemas.microsoft.com/office/drawing/2014/main" id="{AE755B8B-061C-4157-2097-680E96DA79C1}"/>
              </a:ext>
            </a:extLst>
          </p:cNvPr>
          <p:cNvSpPr/>
          <p:nvPr/>
        </p:nvSpPr>
        <p:spPr>
          <a:xfrm>
            <a:off x="609441" y="2031617"/>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A003B33E-AB63-C3AD-9C5E-A8E91A173B6F}"/>
              </a:ext>
            </a:extLst>
          </p:cNvPr>
          <p:cNvSpPr/>
          <p:nvPr/>
        </p:nvSpPr>
        <p:spPr>
          <a:xfrm>
            <a:off x="6193651" y="2020731"/>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uadroTexto 3">
            <a:extLst>
              <a:ext uri="{FF2B5EF4-FFF2-40B4-BE49-F238E27FC236}">
                <a16:creationId xmlns:a16="http://schemas.microsoft.com/office/drawing/2014/main" id="{E102CCD8-64CC-106C-9F80-966C7EAA56C5}"/>
              </a:ext>
            </a:extLst>
          </p:cNvPr>
          <p:cNvSpPr txBox="1"/>
          <p:nvPr/>
        </p:nvSpPr>
        <p:spPr>
          <a:xfrm>
            <a:off x="5468731" y="1073745"/>
            <a:ext cx="1254538" cy="400110"/>
          </a:xfrm>
          <a:prstGeom prst="rect">
            <a:avLst/>
          </a:prstGeom>
          <a:noFill/>
        </p:spPr>
        <p:txBody>
          <a:bodyPr wrap="square" rtlCol="0">
            <a:spAutoFit/>
          </a:bodyPr>
          <a:lstStyle/>
          <a:p>
            <a:pPr algn="ctr"/>
            <a:r>
              <a:rPr lang="es-ES" sz="2000" b="1"/>
              <a:t>SHALLOW</a:t>
            </a:r>
            <a:endParaRPr lang="es-ES" b="1"/>
          </a:p>
        </p:txBody>
      </p:sp>
      <p:pic>
        <p:nvPicPr>
          <p:cNvPr id="9" name="Imagen 8">
            <a:extLst>
              <a:ext uri="{FF2B5EF4-FFF2-40B4-BE49-F238E27FC236}">
                <a16:creationId xmlns:a16="http://schemas.microsoft.com/office/drawing/2014/main" id="{CE30CDAF-AF82-2480-B8E8-3AE4B53DD17C}"/>
              </a:ext>
            </a:extLst>
          </p:cNvPr>
          <p:cNvPicPr>
            <a:picLocks noChangeAspect="1"/>
          </p:cNvPicPr>
          <p:nvPr/>
        </p:nvPicPr>
        <p:blipFill>
          <a:blip r:embed="rId5"/>
          <a:stretch>
            <a:fillRect/>
          </a:stretch>
        </p:blipFill>
        <p:spPr>
          <a:xfrm>
            <a:off x="976334" y="2298406"/>
            <a:ext cx="4752772" cy="2772450"/>
          </a:xfrm>
          <a:prstGeom prst="rect">
            <a:avLst/>
          </a:prstGeom>
        </p:spPr>
      </p:pic>
      <p:sp>
        <p:nvSpPr>
          <p:cNvPr id="2" name="CuadroTexto 1">
            <a:extLst>
              <a:ext uri="{FF2B5EF4-FFF2-40B4-BE49-F238E27FC236}">
                <a16:creationId xmlns:a16="http://schemas.microsoft.com/office/drawing/2014/main" id="{977928F9-82B7-6A2A-B6A8-DB4BD040EBBF}"/>
              </a:ext>
            </a:extLst>
          </p:cNvPr>
          <p:cNvSpPr txBox="1"/>
          <p:nvPr/>
        </p:nvSpPr>
        <p:spPr>
          <a:xfrm>
            <a:off x="8623074" y="1473855"/>
            <a:ext cx="767362" cy="400110"/>
          </a:xfrm>
          <a:prstGeom prst="rect">
            <a:avLst/>
          </a:prstGeom>
          <a:noFill/>
        </p:spPr>
        <p:txBody>
          <a:bodyPr wrap="square" rtlCol="0">
            <a:spAutoFit/>
          </a:bodyPr>
          <a:lstStyle/>
          <a:p>
            <a:pPr algn="ctr"/>
            <a:r>
              <a:rPr lang="es-ES" sz="2000" b="1"/>
              <a:t>Si</a:t>
            </a:r>
            <a:endParaRPr lang="es-ES" b="1"/>
          </a:p>
        </p:txBody>
      </p:sp>
      <p:sp>
        <p:nvSpPr>
          <p:cNvPr id="8" name="CuadroTexto 7">
            <a:extLst>
              <a:ext uri="{FF2B5EF4-FFF2-40B4-BE49-F238E27FC236}">
                <a16:creationId xmlns:a16="http://schemas.microsoft.com/office/drawing/2014/main" id="{4F5263EA-7849-FD20-19F4-CBA56CE81F5F}"/>
              </a:ext>
            </a:extLst>
          </p:cNvPr>
          <p:cNvSpPr txBox="1"/>
          <p:nvPr/>
        </p:nvSpPr>
        <p:spPr>
          <a:xfrm>
            <a:off x="2801565" y="1473855"/>
            <a:ext cx="767362" cy="400110"/>
          </a:xfrm>
          <a:prstGeom prst="rect">
            <a:avLst/>
          </a:prstGeom>
          <a:noFill/>
        </p:spPr>
        <p:txBody>
          <a:bodyPr wrap="square" rtlCol="0">
            <a:spAutoFit/>
          </a:bodyPr>
          <a:lstStyle/>
          <a:p>
            <a:pPr algn="ctr"/>
            <a:r>
              <a:rPr lang="es-ES" sz="2000" b="1" err="1"/>
              <a:t>SiNx</a:t>
            </a:r>
            <a:endParaRPr lang="es-ES" b="1"/>
          </a:p>
        </p:txBody>
      </p:sp>
      <p:pic>
        <p:nvPicPr>
          <p:cNvPr id="11" name="Imagen 10">
            <a:extLst>
              <a:ext uri="{FF2B5EF4-FFF2-40B4-BE49-F238E27FC236}">
                <a16:creationId xmlns:a16="http://schemas.microsoft.com/office/drawing/2014/main" id="{84636361-B557-4B85-28BD-44B76056C1A1}"/>
              </a:ext>
            </a:extLst>
          </p:cNvPr>
          <p:cNvPicPr>
            <a:picLocks noChangeAspect="1"/>
          </p:cNvPicPr>
          <p:nvPr/>
        </p:nvPicPr>
        <p:blipFill>
          <a:blip r:embed="rId6"/>
          <a:stretch>
            <a:fillRect/>
          </a:stretch>
        </p:blipFill>
        <p:spPr>
          <a:xfrm>
            <a:off x="6361126" y="2182079"/>
            <a:ext cx="5151607" cy="3005104"/>
          </a:xfrm>
          <a:prstGeom prst="rect">
            <a:avLst/>
          </a:prstGeom>
        </p:spPr>
      </p:pic>
    </p:spTree>
    <p:extLst>
      <p:ext uri="{BB962C8B-B14F-4D97-AF65-F5344CB8AC3E}">
        <p14:creationId xmlns:p14="http://schemas.microsoft.com/office/powerpoint/2010/main" val="8829718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81F1A-A660-ED0C-3D59-1C607BFEC378}"/>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0048BC69-9D09-1782-F25B-E8328BB47F3F}"/>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spcBef>
                <a:spcPts val="100"/>
              </a:spcBef>
            </a:pPr>
            <a:r>
              <a:rPr lang="en-US" sz="2500"/>
              <a:t>EXTRA</a:t>
            </a:r>
            <a:br>
              <a:rPr lang="en-US" sz="2500" spc="-5">
                <a:latin typeface="+mj-lt"/>
                <a:cs typeface="Lucida Sans"/>
              </a:rPr>
            </a:br>
            <a:r>
              <a:rPr lang="en-US" b="0"/>
              <a:t>2. Repeat the LO.3. width dependence analysis, now sweeping in a 300nm - 1um range. </a:t>
            </a:r>
            <a:endParaRPr lang="en-US" sz="2500" b="0">
              <a:latin typeface="+mj-lt"/>
              <a:cs typeface="Lucida Sans"/>
            </a:endParaRPr>
          </a:p>
        </p:txBody>
      </p:sp>
      <p:pic>
        <p:nvPicPr>
          <p:cNvPr id="83" name="Gráfico 82">
            <a:extLst>
              <a:ext uri="{FF2B5EF4-FFF2-40B4-BE49-F238E27FC236}">
                <a16:creationId xmlns:a16="http://schemas.microsoft.com/office/drawing/2014/main" id="{7A2A4808-C548-AA9A-584E-84C09841F2B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56B6983-BC6E-E292-5800-9C76ECD2E3EF}"/>
              </a:ext>
            </a:extLst>
          </p:cNvPr>
          <p:cNvSpPr>
            <a:spLocks noGrp="1"/>
          </p:cNvSpPr>
          <p:nvPr>
            <p:ph type="sldNum" sz="quarter" idx="7"/>
          </p:nvPr>
        </p:nvSpPr>
        <p:spPr/>
        <p:txBody>
          <a:bodyPr/>
          <a:lstStyle/>
          <a:p>
            <a:fld id="{B6F15528-21DE-4FAA-801E-634DDDAF4B2B}" type="slidenum">
              <a:rPr lang="es-ES" smtClean="0"/>
              <a:t>18</a:t>
            </a:fld>
            <a:endParaRPr lang="es-ES"/>
          </a:p>
        </p:txBody>
      </p:sp>
      <p:sp>
        <p:nvSpPr>
          <p:cNvPr id="3" name="Marcador de pie de página 2">
            <a:extLst>
              <a:ext uri="{FF2B5EF4-FFF2-40B4-BE49-F238E27FC236}">
                <a16:creationId xmlns:a16="http://schemas.microsoft.com/office/drawing/2014/main" id="{037744A0-4A60-C3DB-4A42-65DAA421D4EB}"/>
              </a:ext>
            </a:extLst>
          </p:cNvPr>
          <p:cNvSpPr>
            <a:spLocks noGrp="1"/>
          </p:cNvSpPr>
          <p:nvPr>
            <p:ph type="ftr" sz="quarter" idx="5"/>
          </p:nvPr>
        </p:nvSpPr>
        <p:spPr/>
        <p:txBody>
          <a:bodyPr/>
          <a:lstStyle/>
          <a:p>
            <a:pPr marL="12700">
              <a:spcBef>
                <a:spcPts val="15"/>
              </a:spcBef>
            </a:pPr>
            <a:r>
              <a:rPr lang="es-ES" spc="-5"/>
              <a:t>LAB 1.0 WAVEGUIDES</a:t>
            </a:r>
          </a:p>
        </p:txBody>
      </p:sp>
      <p:sp>
        <p:nvSpPr>
          <p:cNvPr id="5" name="Rectángulo 4">
            <a:extLst>
              <a:ext uri="{FF2B5EF4-FFF2-40B4-BE49-F238E27FC236}">
                <a16:creationId xmlns:a16="http://schemas.microsoft.com/office/drawing/2014/main" id="{A7650D2B-B5EE-C081-B37B-C9BD645D5FBB}"/>
              </a:ext>
            </a:extLst>
          </p:cNvPr>
          <p:cNvSpPr/>
          <p:nvPr/>
        </p:nvSpPr>
        <p:spPr>
          <a:xfrm>
            <a:off x="2752928" y="1352145"/>
            <a:ext cx="6594948" cy="39855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n 6">
            <a:extLst>
              <a:ext uri="{FF2B5EF4-FFF2-40B4-BE49-F238E27FC236}">
                <a16:creationId xmlns:a16="http://schemas.microsoft.com/office/drawing/2014/main" id="{33EF536D-824B-333B-F396-0716CF65BEC9}"/>
              </a:ext>
            </a:extLst>
          </p:cNvPr>
          <p:cNvPicPr>
            <a:picLocks noChangeAspect="1"/>
          </p:cNvPicPr>
          <p:nvPr/>
        </p:nvPicPr>
        <p:blipFill>
          <a:blip r:embed="rId5"/>
          <a:stretch>
            <a:fillRect/>
          </a:stretch>
        </p:blipFill>
        <p:spPr>
          <a:xfrm>
            <a:off x="2844124" y="1451839"/>
            <a:ext cx="6503751" cy="3786112"/>
          </a:xfrm>
          <a:prstGeom prst="rect">
            <a:avLst/>
          </a:prstGeom>
        </p:spPr>
      </p:pic>
    </p:spTree>
    <p:extLst>
      <p:ext uri="{BB962C8B-B14F-4D97-AF65-F5344CB8AC3E}">
        <p14:creationId xmlns:p14="http://schemas.microsoft.com/office/powerpoint/2010/main" val="32330802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AD3E6-FA33-6C79-C97B-E9CBE3DF415E}"/>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B5B0900A-67A3-5602-8172-096F37F70AF2}"/>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spcBef>
                <a:spcPts val="100"/>
              </a:spcBef>
            </a:pPr>
            <a:r>
              <a:rPr lang="en-US" sz="2500" dirty="0"/>
              <a:t>EXTRA</a:t>
            </a:r>
            <a:br>
              <a:rPr lang="en-US" b="0" dirty="0"/>
            </a:br>
            <a:r>
              <a:rPr lang="en-US" b="0" dirty="0"/>
              <a:t>3. Find the safe radius for this technology. Consider sweeping the radius in a 5um to 30um range. </a:t>
            </a:r>
            <a:endParaRPr lang="en-US" sz="2500" b="0" dirty="0">
              <a:latin typeface="+mj-lt"/>
              <a:cs typeface="Lucida Sans"/>
            </a:endParaRPr>
          </a:p>
        </p:txBody>
      </p:sp>
      <p:pic>
        <p:nvPicPr>
          <p:cNvPr id="83" name="Gráfico 82">
            <a:extLst>
              <a:ext uri="{FF2B5EF4-FFF2-40B4-BE49-F238E27FC236}">
                <a16:creationId xmlns:a16="http://schemas.microsoft.com/office/drawing/2014/main" id="{A5F49958-C652-F5D8-390D-61206ECF139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A4300C0E-AE0F-BB73-C503-371D67AA69D1}"/>
              </a:ext>
            </a:extLst>
          </p:cNvPr>
          <p:cNvSpPr>
            <a:spLocks noGrp="1"/>
          </p:cNvSpPr>
          <p:nvPr>
            <p:ph type="sldNum" sz="quarter" idx="7"/>
          </p:nvPr>
        </p:nvSpPr>
        <p:spPr/>
        <p:txBody>
          <a:bodyPr/>
          <a:lstStyle/>
          <a:p>
            <a:fld id="{B6F15528-21DE-4FAA-801E-634DDDAF4B2B}" type="slidenum">
              <a:rPr lang="es-ES" smtClean="0"/>
              <a:t>19</a:t>
            </a:fld>
            <a:endParaRPr lang="es-ES"/>
          </a:p>
        </p:txBody>
      </p:sp>
      <p:sp>
        <p:nvSpPr>
          <p:cNvPr id="3" name="Marcador de pie de página 2">
            <a:extLst>
              <a:ext uri="{FF2B5EF4-FFF2-40B4-BE49-F238E27FC236}">
                <a16:creationId xmlns:a16="http://schemas.microsoft.com/office/drawing/2014/main" id="{59A87E20-ADC0-2256-F2CD-80A4A7C0347B}"/>
              </a:ext>
            </a:extLst>
          </p:cNvPr>
          <p:cNvSpPr>
            <a:spLocks noGrp="1"/>
          </p:cNvSpPr>
          <p:nvPr>
            <p:ph type="ftr" sz="quarter" idx="5"/>
          </p:nvPr>
        </p:nvSpPr>
        <p:spPr/>
        <p:txBody>
          <a:bodyPr/>
          <a:lstStyle/>
          <a:p>
            <a:pPr marL="12700">
              <a:spcBef>
                <a:spcPts val="15"/>
              </a:spcBef>
            </a:pPr>
            <a:r>
              <a:rPr lang="es-ES" spc="-5"/>
              <a:t>LAB 1.0 WAVEGUIDES</a:t>
            </a:r>
          </a:p>
        </p:txBody>
      </p:sp>
      <p:sp>
        <p:nvSpPr>
          <p:cNvPr id="5" name="Rectángulo 4">
            <a:extLst>
              <a:ext uri="{FF2B5EF4-FFF2-40B4-BE49-F238E27FC236}">
                <a16:creationId xmlns:a16="http://schemas.microsoft.com/office/drawing/2014/main" id="{C5D1B551-2267-7986-EC26-511CE38D2150}"/>
              </a:ext>
            </a:extLst>
          </p:cNvPr>
          <p:cNvSpPr/>
          <p:nvPr/>
        </p:nvSpPr>
        <p:spPr>
          <a:xfrm>
            <a:off x="3044756" y="1352145"/>
            <a:ext cx="5846325" cy="39855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a:extLst>
              <a:ext uri="{FF2B5EF4-FFF2-40B4-BE49-F238E27FC236}">
                <a16:creationId xmlns:a16="http://schemas.microsoft.com/office/drawing/2014/main" id="{0FA6A0EF-3860-89B5-0D87-0B15A52C0088}"/>
              </a:ext>
            </a:extLst>
          </p:cNvPr>
          <p:cNvPicPr>
            <a:picLocks noChangeAspect="1"/>
          </p:cNvPicPr>
          <p:nvPr/>
        </p:nvPicPr>
        <p:blipFill>
          <a:blip r:embed="rId5"/>
          <a:stretch>
            <a:fillRect/>
          </a:stretch>
        </p:blipFill>
        <p:spPr>
          <a:xfrm>
            <a:off x="3352800" y="1412396"/>
            <a:ext cx="5003260" cy="3864997"/>
          </a:xfrm>
          <a:prstGeom prst="rect">
            <a:avLst/>
          </a:prstGeom>
        </p:spPr>
      </p:pic>
    </p:spTree>
    <p:extLst>
      <p:ext uri="{BB962C8B-B14F-4D97-AF65-F5344CB8AC3E}">
        <p14:creationId xmlns:p14="http://schemas.microsoft.com/office/powerpoint/2010/main" val="6516147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41F7E-811B-5141-1483-A7B1E0E4685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F0B7E7F0-1A8D-F8C0-ADE9-F54741F74741}"/>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spcBef>
                <a:spcPts val="100"/>
              </a:spcBef>
            </a:pPr>
            <a:r>
              <a:rPr lang="en-US" sz="2500" dirty="0"/>
              <a:t>EXTRA</a:t>
            </a:r>
            <a:br>
              <a:rPr lang="en-US" b="0" dirty="0"/>
            </a:br>
            <a:r>
              <a:rPr lang="en-US" b="0" dirty="0"/>
              <a:t>4. Compare the </a:t>
            </a:r>
            <a:r>
              <a:rPr lang="en-US" b="0" dirty="0" err="1"/>
              <a:t>SiNx</a:t>
            </a:r>
            <a:r>
              <a:rPr lang="en-US" b="0" dirty="0"/>
              <a:t> and SOI technologies</a:t>
            </a:r>
            <a:endParaRPr lang="en-US" sz="2500" b="0" dirty="0">
              <a:latin typeface="+mj-lt"/>
              <a:cs typeface="Lucida Sans"/>
            </a:endParaRPr>
          </a:p>
        </p:txBody>
      </p:sp>
      <p:pic>
        <p:nvPicPr>
          <p:cNvPr id="83" name="Gráfico 82">
            <a:extLst>
              <a:ext uri="{FF2B5EF4-FFF2-40B4-BE49-F238E27FC236}">
                <a16:creationId xmlns:a16="http://schemas.microsoft.com/office/drawing/2014/main" id="{6AA728B5-0B18-A5B2-3CEE-6281FF8B04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0826D0B-4016-A258-ED08-694FEEC9ACF4}"/>
              </a:ext>
            </a:extLst>
          </p:cNvPr>
          <p:cNvSpPr>
            <a:spLocks noGrp="1"/>
          </p:cNvSpPr>
          <p:nvPr>
            <p:ph type="sldNum" sz="quarter" idx="7"/>
          </p:nvPr>
        </p:nvSpPr>
        <p:spPr/>
        <p:txBody>
          <a:bodyPr/>
          <a:lstStyle/>
          <a:p>
            <a:fld id="{B6F15528-21DE-4FAA-801E-634DDDAF4B2B}" type="slidenum">
              <a:rPr lang="es-ES" smtClean="0"/>
              <a:t>20</a:t>
            </a:fld>
            <a:endParaRPr lang="es-ES"/>
          </a:p>
        </p:txBody>
      </p:sp>
      <p:sp>
        <p:nvSpPr>
          <p:cNvPr id="3" name="Marcador de pie de página 2">
            <a:extLst>
              <a:ext uri="{FF2B5EF4-FFF2-40B4-BE49-F238E27FC236}">
                <a16:creationId xmlns:a16="http://schemas.microsoft.com/office/drawing/2014/main" id="{AAB33D66-03E0-56F3-759D-20DB8FDC4966}"/>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92A115F7-B5FB-CA2E-E86D-208EB3F2E4CC}"/>
              </a:ext>
            </a:extLst>
          </p:cNvPr>
          <p:cNvSpPr txBox="1"/>
          <p:nvPr/>
        </p:nvSpPr>
        <p:spPr>
          <a:xfrm>
            <a:off x="685800" y="1190957"/>
            <a:ext cx="11199971" cy="4524315"/>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El Si en guía Deep tiene comportamiento multimodo hasta una longitud de onda de  1.6 micras, donde pasa a ser monomodo, a diferencia del </a:t>
            </a:r>
            <a:r>
              <a:rPr lang="es-ES" sz="1200" dirty="0" err="1">
                <a:latin typeface="Arial" panose="020B0604020202020204" pitchFamily="34" charset="0"/>
                <a:cs typeface="Arial" panose="020B0604020202020204" pitchFamily="34" charset="0"/>
              </a:rPr>
              <a:t>SiNx</a:t>
            </a:r>
            <a:r>
              <a:rPr lang="es-ES" sz="1200" dirty="0">
                <a:latin typeface="Arial" panose="020B0604020202020204" pitchFamily="34" charset="0"/>
                <a:cs typeface="Arial" panose="020B0604020202020204" pitchFamily="34" charset="0"/>
              </a:rPr>
              <a:t> que es monomodo  en todo el rango de 1.5 a 1.6 </a:t>
            </a:r>
            <a:r>
              <a:rPr lang="es-ES" sz="1200">
                <a:latin typeface="Arial" panose="020B0604020202020204" pitchFamily="34" charset="0"/>
                <a:cs typeface="Arial" panose="020B0604020202020204" pitchFamily="34" charset="0"/>
              </a:rPr>
              <a:t>micras.</a:t>
            </a:r>
            <a:endParaRPr lang="es-ES" sz="120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En cuanto a las guías </a:t>
            </a:r>
            <a:r>
              <a:rPr lang="es-ES" sz="1200" dirty="0" err="1">
                <a:latin typeface="Arial" panose="020B0604020202020204" pitchFamily="34" charset="0"/>
                <a:cs typeface="Arial" panose="020B0604020202020204" pitchFamily="34" charset="0"/>
              </a:rPr>
              <a:t>Shallow</a:t>
            </a:r>
            <a:r>
              <a:rPr lang="es-ES" sz="1200" dirty="0">
                <a:latin typeface="Arial" panose="020B0604020202020204" pitchFamily="34" charset="0"/>
                <a:cs typeface="Arial" panose="020B0604020202020204" pitchFamily="34" charset="0"/>
              </a:rPr>
              <a:t> el Si tiene un mayor indice de refracción que el </a:t>
            </a:r>
            <a:r>
              <a:rPr lang="es-ES" sz="1200" dirty="0" err="1">
                <a:latin typeface="Arial" panose="020B0604020202020204" pitchFamily="34" charset="0"/>
                <a:cs typeface="Arial" panose="020B0604020202020204" pitchFamily="34" charset="0"/>
              </a:rPr>
              <a:t>SiNx</a:t>
            </a:r>
            <a:r>
              <a:rPr lang="es-ES" sz="1200" dirty="0">
                <a:latin typeface="Arial" panose="020B0604020202020204" pitchFamily="34" charset="0"/>
                <a:cs typeface="Arial" panose="020B0604020202020204" pitchFamily="34" charset="0"/>
              </a:rPr>
              <a:t>, esto demuestra que en general el Si posee mayor indice de refracción que el </a:t>
            </a:r>
            <a:r>
              <a:rPr lang="es-ES" sz="1200" dirty="0" err="1">
                <a:latin typeface="Arial" panose="020B0604020202020204" pitchFamily="34" charset="0"/>
                <a:cs typeface="Arial" panose="020B0604020202020204" pitchFamily="34" charset="0"/>
              </a:rPr>
              <a:t>SiNx</a:t>
            </a:r>
            <a:r>
              <a:rPr lang="es-ES" sz="1200" dirty="0">
                <a:latin typeface="Arial" panose="020B0604020202020204" pitchFamily="34" charset="0"/>
                <a:cs typeface="Arial" panose="020B0604020202020204" pitchFamily="34" charset="0"/>
              </a:rPr>
              <a:t>, con lo cual es mejor para usar en núcleos de fibra óptica pequeños, ya que posee mejor confinamiento de la luz y facilita la refracción total, lo cual induce a menores perdidas. </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En cuanto a la propagación, hasta las 0.4 micras aproximadamente la guía es monomodo, mientras que a partir de aproximadamente 0.7 micras, se propagan todos los modos. Además, a lo largo de todos los anchos, el único modo puro es el primero que es TE, el resto son modos híbridos (Combinación de ambos).</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La fibra de Si obtiene mejor respuesta a las curvaturas, ya que para cualquier radio de curvatura, este está dentro del radio seguro (Donde la perdida total es menor a 0.1 </a:t>
            </a:r>
            <a:r>
              <a:rPr lang="es-ES" sz="1200" dirty="0" err="1">
                <a:latin typeface="Arial" panose="020B0604020202020204" pitchFamily="34" charset="0"/>
                <a:cs typeface="Arial" panose="020B0604020202020204" pitchFamily="34" charset="0"/>
              </a:rPr>
              <a:t>db</a:t>
            </a:r>
            <a:r>
              <a:rPr lang="es-ES" sz="1200" dirty="0">
                <a:latin typeface="Arial" panose="020B0604020202020204" pitchFamily="34" charset="0"/>
                <a:cs typeface="Arial" panose="020B0604020202020204" pitchFamily="34" charset="0"/>
              </a:rPr>
              <a:t>).</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Como conclusión final obtenemos que:</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	-El </a:t>
            </a:r>
            <a:r>
              <a:rPr lang="es-ES" sz="1200" dirty="0" err="1">
                <a:latin typeface="Arial" panose="020B0604020202020204" pitchFamily="34" charset="0"/>
                <a:cs typeface="Arial" panose="020B0604020202020204" pitchFamily="34" charset="0"/>
              </a:rPr>
              <a:t>SiNx</a:t>
            </a:r>
            <a:r>
              <a:rPr lang="es-ES" sz="1200" dirty="0">
                <a:latin typeface="Arial" panose="020B0604020202020204" pitchFamily="34" charset="0"/>
                <a:cs typeface="Arial" panose="020B0604020202020204" pitchFamily="34" charset="0"/>
              </a:rPr>
              <a:t> es el material adecuado para fibras multimodo ya que su indice de refracción es mas bajo, con lo cual podemos diseñar fibras con núcleos 	mas grandes sin perder el confinamiento de la luz en el núcleo. Las fibras multimodo no requieren un confinamiento tan estricto. Estas fibras son 	ideales para aplicaciones de corto alcance.</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	- El Si tiene un alto indice de refracción, lo que nos permite tener un gran confinamiento en fibras con núcleos pequeños y esto es ideal en fibras 	monomodo, donde nos aseguramos que el modo fundamental se propague a través de la fibra. Además, en fibras multimodo, debido a la alta 	diferencia de indice de refracción entre el núcleo de silicio y el de la cubierta se puede generar más dispersión modal y mayores pérdidas, lo cual no 	es bueno.</a:t>
            </a: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41788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a:solidFill>
                  <a:srgbClr val="FFFFFF"/>
                </a:solidFill>
                <a:latin typeface="Lucida Sans"/>
                <a:cs typeface="Lucida Sans"/>
              </a:rPr>
              <a:t>Thank</a:t>
            </a:r>
            <a:r>
              <a:rPr sz="3200" b="1" spc="-55">
                <a:solidFill>
                  <a:srgbClr val="FFFFFF"/>
                </a:solidFill>
                <a:latin typeface="Lucida Sans"/>
                <a:cs typeface="Lucida Sans"/>
              </a:rPr>
              <a:t> </a:t>
            </a:r>
            <a:r>
              <a:rPr sz="3200" b="1">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21</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687df890-2601-448c-be3c-56e27ed810cd"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3E1E002B17413842B52C919604DA6A27" ma:contentTypeVersion="14" ma:contentTypeDescription="Crear nuevo documento." ma:contentTypeScope="" ma:versionID="c28be6b225bdaf66a4167d65a283f3d5">
  <xsd:schema xmlns:xsd="http://www.w3.org/2001/XMLSchema" xmlns:xs="http://www.w3.org/2001/XMLSchema" xmlns:p="http://schemas.microsoft.com/office/2006/metadata/properties" xmlns:ns3="687df890-2601-448c-be3c-56e27ed810cd" xmlns:ns4="3b26aeef-a858-43c9-b8af-7466d1d07be8" targetNamespace="http://schemas.microsoft.com/office/2006/metadata/properties" ma:root="true" ma:fieldsID="c043bf8148dcb21a4963f612d8276dca" ns3:_="" ns4:_="">
    <xsd:import namespace="687df890-2601-448c-be3c-56e27ed810cd"/>
    <xsd:import namespace="3b26aeef-a858-43c9-b8af-7466d1d07be8"/>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SearchProperties" minOccurs="0"/>
                <xsd:element ref="ns3:MediaServiceDateTaken" minOccurs="0"/>
                <xsd:element ref="ns3:MediaServiceAutoTags" minOccurs="0"/>
                <xsd:element ref="ns3:MediaLengthInSeconds" minOccurs="0"/>
                <xsd:element ref="ns3:MediaServiceObjectDetectorVersions" minOccurs="0"/>
                <xsd:element ref="ns3:MediaServiceSystemTags"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7df890-2601-448c-be3c-56e27ed810cd"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ystemTags" ma:index="19" nillable="true" ma:displayName="MediaServiceSystemTags" ma:hidden="true" ma:internalName="MediaServiceSystemTags" ma:readOnly="true">
      <xsd:simpleType>
        <xsd:restriction base="dms:Note"/>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b26aeef-a858-43c9-b8af-7466d1d07be8" elementFormDefault="qualified">
    <xsd:import namespace="http://schemas.microsoft.com/office/2006/documentManagement/types"/>
    <xsd:import namespace="http://schemas.microsoft.com/office/infopath/2007/PartnerControls"/>
    <xsd:element name="SharedWithUsers" ma:index="9"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Detalles de uso compartido" ma:internalName="SharedWithDetails" ma:readOnly="true">
      <xsd:simpleType>
        <xsd:restriction base="dms:Note">
          <xsd:maxLength value="255"/>
        </xsd:restriction>
      </xsd:simpleType>
    </xsd:element>
    <xsd:element name="SharingHintHash" ma:index="11" nillable="true" ma:displayName="Hash de la sugerencia para comparti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F75C372-D324-47C1-A32B-BA8364DE051B}">
  <ds:schemaRefs>
    <ds:schemaRef ds:uri="http://schemas.microsoft.com/sharepoint/v3/contenttype/forms"/>
  </ds:schemaRefs>
</ds:datastoreItem>
</file>

<file path=customXml/itemProps2.xml><?xml version="1.0" encoding="utf-8"?>
<ds:datastoreItem xmlns:ds="http://schemas.openxmlformats.org/officeDocument/2006/customXml" ds:itemID="{B3082418-BA0B-4D10-A50E-5FE15F28BD6A}">
  <ds:schemaRefs>
    <ds:schemaRef ds:uri="687df890-2601-448c-be3c-56e27ed810cd"/>
    <ds:schemaRef ds:uri="http://schemas.microsoft.com/office/2006/documentManagement/types"/>
    <ds:schemaRef ds:uri="http://purl.org/dc/dcmitype/"/>
    <ds:schemaRef ds:uri="http://purl.org/dc/terms/"/>
    <ds:schemaRef ds:uri="http://www.w3.org/XML/1998/namespace"/>
    <ds:schemaRef ds:uri="http://purl.org/dc/elements/1.1/"/>
    <ds:schemaRef ds:uri="http://schemas.microsoft.com/office/2006/metadata/properties"/>
    <ds:schemaRef ds:uri="http://schemas.microsoft.com/office/infopath/2007/PartnerControls"/>
    <ds:schemaRef ds:uri="http://schemas.openxmlformats.org/package/2006/metadata/core-properties"/>
    <ds:schemaRef ds:uri="3b26aeef-a858-43c9-b8af-7466d1d07be8"/>
  </ds:schemaRefs>
</ds:datastoreItem>
</file>

<file path=customXml/itemProps3.xml><?xml version="1.0" encoding="utf-8"?>
<ds:datastoreItem xmlns:ds="http://schemas.openxmlformats.org/officeDocument/2006/customXml" ds:itemID="{00DC518B-6387-41A5-91B8-F2EAC9198357}">
  <ds:schemaRefs>
    <ds:schemaRef ds:uri="3b26aeef-a858-43c9-b8af-7466d1d07be8"/>
    <ds:schemaRef ds:uri="687df890-2601-448c-be3c-56e27ed810c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287</TotalTime>
  <Words>2372</Words>
  <Application>Microsoft Office PowerPoint</Application>
  <PresentationFormat>Panorámica</PresentationFormat>
  <Paragraphs>269</Paragraphs>
  <Slides>21</Slides>
  <Notes>18</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21</vt:i4>
      </vt:variant>
    </vt:vector>
  </HeadingPairs>
  <TitlesOfParts>
    <vt:vector size="29" baseType="lpstr">
      <vt:lpstr>Aptos</vt:lpstr>
      <vt:lpstr>Arial</vt:lpstr>
      <vt:lpstr>Calibri</vt:lpstr>
      <vt:lpstr>Cambria Math</vt:lpstr>
      <vt:lpstr>Lucida Sans</vt:lpstr>
      <vt:lpstr>Times New Roman</vt:lpstr>
      <vt:lpstr>Wingdings</vt:lpstr>
      <vt:lpstr>Office Theme</vt:lpstr>
      <vt:lpstr>Presentación de PowerPoint</vt:lpstr>
      <vt:lpstr>Instructions General</vt:lpstr>
      <vt:lpstr>Learning outcome #1 – Effective index of a waveguide </vt:lpstr>
      <vt:lpstr>Learning outcome #1 – Effective index of a waveguide </vt:lpstr>
      <vt:lpstr>Learning outcome #1 – Effective index of a waveguide </vt:lpstr>
      <vt:lpstr>Learning outcome #1 – Effective index of a waveguide </vt:lpstr>
      <vt:lpstr>Learning outcome #1 – Effective index of a waveguide </vt:lpstr>
      <vt:lpstr>Learning outcome #1 – Effective index of a waveguide </vt:lpstr>
      <vt:lpstr>Learning outcome #2 – Wavelength behavior Wavelength 1.5-1.6 µm (step 0.01 µm) – width 1.2 µm</vt:lpstr>
      <vt:lpstr>Learning outcome #2 – Wavelength behavior Wavelength 1.5-1.6 µm (step 0.01 µm) – width 1.2 µm</vt:lpstr>
      <vt:lpstr>Learning outcome #3 – Width dependence Width 0.6 - 1.6 µm (step 0.1 µm) – Wavelength 1.55 µm </vt:lpstr>
      <vt:lpstr>Learning outcome #4 – Waveguide compact model - Find the compact models of the following waveguides:  Deep waveguide, h=300nm, w=1.2um   - Shallow waveguide, core h=300nm, slab h=150 nm, w = 1.2um  </vt:lpstr>
      <vt:lpstr>Learning outcome #4 – Waveguide compact model </vt:lpstr>
      <vt:lpstr>Learning outcome #5 – Bend waveguide radius vs. loss – deep Find  neff_TE0 for wvl 1.55 µm, width 1.2 µm for R=25,50,75,100, 125,150 µm </vt:lpstr>
      <vt:lpstr>Learning outcome #5 – Bend waveguide radius vs. loss – deep Find  neff_TE0 for wvl 1.55 µm, width 1.2 µm for R=25,50,75,100, 125,150 µm </vt:lpstr>
      <vt:lpstr>EXTRA 1. Repeat the LO.2. wavelength behavior simulations, considering the updated materials and dimensions.</vt:lpstr>
      <vt:lpstr>EXTRA 1. Repeat the LO.2. wavelength behavior simulations, considering the updated materials and dimensions.</vt:lpstr>
      <vt:lpstr>EXTRA 2. Repeat the LO.3. width dependence analysis, now sweeping in a 300nm - 1um range. </vt:lpstr>
      <vt:lpstr>EXTRA 3. Find the safe radius for this technology. Consider sweeping the radius in a 5um to 30um range. </vt:lpstr>
      <vt:lpstr>EXTRA 4. Compare the SiNx and SOI technologies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Sergio Díaz Jiménez</cp:lastModifiedBy>
  <cp:revision>3</cp:revision>
  <dcterms:created xsi:type="dcterms:W3CDTF">2025-01-27T02:46:57Z</dcterms:created>
  <dcterms:modified xsi:type="dcterms:W3CDTF">2026-03-11T19:05:37Z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y fmtid="{D5CDD505-2E9C-101B-9397-08002B2CF9AE}" pid="5" name="ContentTypeId">
    <vt:lpwstr>0x0101003E1E002B17413842B52C919604DA6A27</vt:lpwstr>
  </property>
</Properties>
</file>